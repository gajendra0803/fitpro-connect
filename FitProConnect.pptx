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9A8CF4-BD7B-4BD3-94E6-8BB056DE04A8}" v="1402" dt="2025-03-10T20:06:17.2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p:scale>
          <a:sx n="117" d="100"/>
          <a:sy n="117" d="100"/>
        </p:scale>
        <p:origin x="-108"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3/11/2025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3/11/2025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3/11/2025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white logo&#10;&#10;AI-generated content may be incorrect.">
            <a:extLst>
              <a:ext uri="{FF2B5EF4-FFF2-40B4-BE49-F238E27FC236}">
                <a16:creationId xmlns:a16="http://schemas.microsoft.com/office/drawing/2014/main" xmlns="" id="{BE7CE2C7-FE93-8CED-B2DB-83BD984F2DE3}"/>
              </a:ext>
            </a:extLst>
          </p:cNvPr>
          <p:cNvPicPr>
            <a:picLocks noChangeAspect="1"/>
          </p:cNvPicPr>
          <p:nvPr/>
        </p:nvPicPr>
        <p:blipFill>
          <a:blip r:embed="rId2"/>
          <a:stretch>
            <a:fillRect/>
          </a:stretch>
        </p:blipFill>
        <p:spPr>
          <a:xfrm>
            <a:off x="-4702" y="67953"/>
            <a:ext cx="1986749" cy="1007603"/>
          </a:xfrm>
          <a:prstGeom prst="rect">
            <a:avLst/>
          </a:prstGeom>
        </p:spPr>
      </p:pic>
      <p:sp>
        <p:nvSpPr>
          <p:cNvPr id="5" name="TextBox 4">
            <a:extLst>
              <a:ext uri="{FF2B5EF4-FFF2-40B4-BE49-F238E27FC236}">
                <a16:creationId xmlns:a16="http://schemas.microsoft.com/office/drawing/2014/main" xmlns="" id="{CDE8FBC7-4BBA-7D67-8726-37E1BE81F385}"/>
              </a:ext>
            </a:extLst>
          </p:cNvPr>
          <p:cNvSpPr txBox="1"/>
          <p:nvPr/>
        </p:nvSpPr>
        <p:spPr>
          <a:xfrm>
            <a:off x="1975960" y="178349"/>
            <a:ext cx="946391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dirty="0">
                <a:latin typeface="Times New Roman"/>
                <a:cs typeface="Times New Roman"/>
              </a:rPr>
              <a:t>CHHATRAPATI SHIVAJI INSTITUTE OF TECHNOLOGY (</a:t>
            </a:r>
            <a:r>
              <a:rPr lang="en-US" sz="2400" err="1">
                <a:latin typeface="Times New Roman"/>
                <a:cs typeface="Times New Roman"/>
              </a:rPr>
              <a:t>Durg,C.G</a:t>
            </a:r>
            <a:r>
              <a:rPr lang="en-US" sz="2400" dirty="0">
                <a:latin typeface="Times New Roman"/>
                <a:cs typeface="Times New Roman"/>
              </a:rPr>
              <a:t>)</a:t>
            </a:r>
            <a:endParaRPr lang="en-US"/>
          </a:p>
          <a:p>
            <a:pPr algn="ctr"/>
            <a:r>
              <a:rPr lang="en-US" sz="2400">
                <a:latin typeface="Times New Roman"/>
                <a:cs typeface="Times New Roman"/>
              </a:rPr>
              <a:t>DEPARTMENT OF COMPUTER SCIENCE AND ENGINEERING</a:t>
            </a:r>
            <a:endParaRPr lang="en-US" sz="2400" dirty="0">
              <a:latin typeface="Times New Roman"/>
              <a:cs typeface="Times New Roman"/>
            </a:endParaRPr>
          </a:p>
        </p:txBody>
      </p:sp>
      <p:sp>
        <p:nvSpPr>
          <p:cNvPr id="6" name="TextBox 5">
            <a:extLst>
              <a:ext uri="{FF2B5EF4-FFF2-40B4-BE49-F238E27FC236}">
                <a16:creationId xmlns:a16="http://schemas.microsoft.com/office/drawing/2014/main" xmlns="" id="{B2340C67-4472-B633-5A0B-0D570DDCC161}"/>
              </a:ext>
            </a:extLst>
          </p:cNvPr>
          <p:cNvSpPr txBox="1"/>
          <p:nvPr/>
        </p:nvSpPr>
        <p:spPr>
          <a:xfrm>
            <a:off x="3290805" y="1928774"/>
            <a:ext cx="5614329"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latin typeface="Times New Roman"/>
                <a:cs typeface="Times New Roman"/>
              </a:rPr>
              <a:t>A </a:t>
            </a:r>
            <a:endParaRPr lang="en-US">
              <a:latin typeface="Aptos" panose="020B0004020202020204"/>
              <a:cs typeface="Times New Roman"/>
            </a:endParaRPr>
          </a:p>
          <a:p>
            <a:pPr algn="ctr"/>
            <a:r>
              <a:rPr lang="en-US" sz="2000" dirty="0">
                <a:latin typeface="Times New Roman"/>
                <a:cs typeface="Times New Roman"/>
              </a:rPr>
              <a:t>SECOND PRESENTATION </a:t>
            </a:r>
            <a:endParaRPr lang="en-US" dirty="0">
              <a:latin typeface="Aptos" panose="020B0004020202020204"/>
              <a:cs typeface="Times New Roman"/>
            </a:endParaRPr>
          </a:p>
          <a:p>
            <a:pPr algn="ctr"/>
            <a:r>
              <a:rPr lang="en-US" sz="2000" dirty="0">
                <a:latin typeface="Times New Roman"/>
                <a:cs typeface="Times New Roman"/>
              </a:rPr>
              <a:t>ON MAJOR PROJECT</a:t>
            </a:r>
            <a:endParaRPr lang="en-US" dirty="0">
              <a:latin typeface="Aptos" panose="020B0004020202020204"/>
              <a:cs typeface="Times New Roman"/>
            </a:endParaRPr>
          </a:p>
          <a:p>
            <a:pPr algn="ctr"/>
            <a:r>
              <a:rPr lang="en-US" sz="2000" dirty="0">
                <a:latin typeface="Times New Roman"/>
                <a:cs typeface="Times New Roman"/>
              </a:rPr>
              <a:t> FITPRO CONNECT</a:t>
            </a:r>
            <a:endParaRPr lang="en-US"/>
          </a:p>
        </p:txBody>
      </p:sp>
      <p:sp>
        <p:nvSpPr>
          <p:cNvPr id="7" name="TextBox 6">
            <a:extLst>
              <a:ext uri="{FF2B5EF4-FFF2-40B4-BE49-F238E27FC236}">
                <a16:creationId xmlns:a16="http://schemas.microsoft.com/office/drawing/2014/main" xmlns="" id="{89EA4A0E-98C1-BBBE-D21E-737B46199EC5}"/>
              </a:ext>
            </a:extLst>
          </p:cNvPr>
          <p:cNvSpPr txBox="1"/>
          <p:nvPr/>
        </p:nvSpPr>
        <p:spPr>
          <a:xfrm>
            <a:off x="2381026" y="3668453"/>
            <a:ext cx="743596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Times New Roman"/>
                <a:cs typeface="Times New Roman"/>
              </a:rPr>
              <a:t>Group Members:</a:t>
            </a:r>
            <a:endParaRPr lang="en-US" dirty="0"/>
          </a:p>
          <a:p>
            <a:pPr algn="ctr"/>
            <a:r>
              <a:rPr lang="en-US" dirty="0">
                <a:latin typeface="Times New Roman"/>
                <a:cs typeface="Times New Roman"/>
              </a:rPr>
              <a:t>GAJENDRA DEWANGAN(300302221004), </a:t>
            </a:r>
          </a:p>
          <a:p>
            <a:pPr algn="ctr"/>
            <a:r>
              <a:rPr lang="en-US" dirty="0">
                <a:latin typeface="Times New Roman"/>
                <a:cs typeface="Times New Roman"/>
              </a:rPr>
              <a:t>ANJALI RAI(300302221039), </a:t>
            </a:r>
            <a:endParaRPr lang="en-US" dirty="0">
              <a:latin typeface="Aptos" panose="020B0004020202020204"/>
              <a:cs typeface="Times New Roman"/>
            </a:endParaRPr>
          </a:p>
          <a:p>
            <a:pPr algn="ctr"/>
            <a:r>
              <a:rPr lang="en-US" dirty="0">
                <a:latin typeface="Times New Roman"/>
                <a:cs typeface="Times New Roman"/>
              </a:rPr>
              <a:t>ANKITA RAO(300302221017)</a:t>
            </a:r>
            <a:endParaRPr lang="en-US" dirty="0"/>
          </a:p>
        </p:txBody>
      </p:sp>
      <p:sp>
        <p:nvSpPr>
          <p:cNvPr id="8" name="TextBox 7">
            <a:extLst>
              <a:ext uri="{FF2B5EF4-FFF2-40B4-BE49-F238E27FC236}">
                <a16:creationId xmlns:a16="http://schemas.microsoft.com/office/drawing/2014/main" xmlns="" id="{24FD0353-85CD-42A5-7704-1D9669E4A4E7}"/>
              </a:ext>
            </a:extLst>
          </p:cNvPr>
          <p:cNvSpPr txBox="1"/>
          <p:nvPr/>
        </p:nvSpPr>
        <p:spPr>
          <a:xfrm>
            <a:off x="314439" y="5755184"/>
            <a:ext cx="386567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cs typeface="Times New Roman"/>
              </a:rPr>
              <a:t>GUIDED BY: PROF</a:t>
            </a:r>
            <a:r>
              <a:rPr lang="en-US" dirty="0" smtClean="0">
                <a:latin typeface="Times New Roman"/>
                <a:cs typeface="Times New Roman"/>
              </a:rPr>
              <a:t>. KRANTI </a:t>
            </a:r>
            <a:r>
              <a:rPr lang="en-US" dirty="0">
                <a:latin typeface="Times New Roman"/>
                <a:cs typeface="Times New Roman"/>
              </a:rPr>
              <a:t>JAIN</a:t>
            </a:r>
          </a:p>
        </p:txBody>
      </p:sp>
      <p:sp>
        <p:nvSpPr>
          <p:cNvPr id="9" name="TextBox 8">
            <a:extLst>
              <a:ext uri="{FF2B5EF4-FFF2-40B4-BE49-F238E27FC236}">
                <a16:creationId xmlns:a16="http://schemas.microsoft.com/office/drawing/2014/main" xmlns="" id="{B073AC1E-7EEA-C2C6-9C34-E8BCC0A5B55E}"/>
              </a:ext>
            </a:extLst>
          </p:cNvPr>
          <p:cNvSpPr txBox="1"/>
          <p:nvPr/>
        </p:nvSpPr>
        <p:spPr>
          <a:xfrm>
            <a:off x="9540045" y="5756707"/>
            <a:ext cx="220442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latin typeface="Times New Roman"/>
                <a:cs typeface="Times New Roman"/>
              </a:rPr>
              <a:t>SEMESTER-8th</a:t>
            </a:r>
          </a:p>
        </p:txBody>
      </p:sp>
    </p:spTree>
    <p:extLst>
      <p:ext uri="{BB962C8B-B14F-4D97-AF65-F5344CB8AC3E}">
        <p14:creationId xmlns:p14="http://schemas.microsoft.com/office/powerpoint/2010/main" val="1098572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xmlns="" id="{B6FACB3C-9069-4791-BC5C-0DB7CD19B85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xmlns="" id="{71F2038E-D777-4B76-81DD-DD13EE91B9D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xmlns="" id="{FC5C5F5C-F35F-5344-2388-17A62577483A}"/>
              </a:ext>
            </a:extLst>
          </p:cNvPr>
          <p:cNvSpPr txBox="1"/>
          <p:nvPr/>
        </p:nvSpPr>
        <p:spPr>
          <a:xfrm>
            <a:off x="787354" y="595137"/>
            <a:ext cx="4766330" cy="1454051"/>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3600" kern="1200">
                <a:solidFill>
                  <a:schemeClr val="tx2"/>
                </a:solidFill>
                <a:latin typeface="+mj-lt"/>
                <a:ea typeface="+mj-ea"/>
                <a:cs typeface="+mj-cs"/>
              </a:rPr>
              <a:t>INTRODUCTION</a:t>
            </a:r>
          </a:p>
        </p:txBody>
      </p:sp>
      <p:sp>
        <p:nvSpPr>
          <p:cNvPr id="3" name="TextBox 2">
            <a:extLst>
              <a:ext uri="{FF2B5EF4-FFF2-40B4-BE49-F238E27FC236}">
                <a16:creationId xmlns:a16="http://schemas.microsoft.com/office/drawing/2014/main" xmlns="" id="{9E5AAC16-D2C7-7657-522A-B7D385FEC199}"/>
              </a:ext>
            </a:extLst>
          </p:cNvPr>
          <p:cNvSpPr txBox="1"/>
          <p:nvPr/>
        </p:nvSpPr>
        <p:spPr>
          <a:xfrm>
            <a:off x="337081" y="1625047"/>
            <a:ext cx="4765949" cy="4773566"/>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90000"/>
              </a:lnSpc>
              <a:spcAft>
                <a:spcPts val="600"/>
              </a:spcAft>
            </a:pPr>
            <a:r>
              <a:rPr lang="en-US" sz="1200" dirty="0">
                <a:solidFill>
                  <a:schemeClr val="tx2"/>
                </a:solidFill>
              </a:rPr>
              <a:t>•</a:t>
            </a:r>
            <a:r>
              <a:rPr lang="en-US" sz="1200" b="1" dirty="0">
                <a:solidFill>
                  <a:schemeClr val="tx2"/>
                </a:solidFill>
              </a:rPr>
              <a:t>All-in-One Fitness Platform</a:t>
            </a:r>
            <a:r>
              <a:rPr lang="en-US" sz="1200" dirty="0">
                <a:solidFill>
                  <a:schemeClr val="tx2"/>
                </a:solidFill>
              </a:rPr>
              <a:t> – Fit Pro Connect brings together gyms, trainers, equipment rentals, job opportunities, and fitness tracking in one seamless platform, making it easier for users to manage their fitness journey.</a:t>
            </a:r>
          </a:p>
          <a:p>
            <a:pPr>
              <a:lnSpc>
                <a:spcPct val="90000"/>
              </a:lnSpc>
              <a:spcAft>
                <a:spcPts val="600"/>
              </a:spcAft>
            </a:pPr>
            <a:endParaRPr lang="en-US" sz="1200" dirty="0">
              <a:solidFill>
                <a:schemeClr val="tx2"/>
              </a:solidFill>
            </a:endParaRPr>
          </a:p>
          <a:p>
            <a:pPr>
              <a:lnSpc>
                <a:spcPct val="90000"/>
              </a:lnSpc>
              <a:spcAft>
                <a:spcPts val="600"/>
              </a:spcAft>
            </a:pPr>
            <a:r>
              <a:rPr lang="en-US" sz="1200" dirty="0">
                <a:solidFill>
                  <a:schemeClr val="tx2"/>
                </a:solidFill>
              </a:rPr>
              <a:t>•</a:t>
            </a:r>
            <a:r>
              <a:rPr lang="en-US" sz="1200" b="1" dirty="0">
                <a:solidFill>
                  <a:schemeClr val="tx2"/>
                </a:solidFill>
              </a:rPr>
              <a:t>AI-Powered Smart Training</a:t>
            </a:r>
            <a:r>
              <a:rPr lang="en-US" sz="1200" dirty="0">
                <a:solidFill>
                  <a:schemeClr val="tx2"/>
                </a:solidFill>
              </a:rPr>
              <a:t> – Using OpenCV-based AI technology, the platform provides real-time posture analysis, movement tracking, and personalized workout recommendations, ensuring an efficient and injury-free training experience.</a:t>
            </a:r>
          </a:p>
          <a:p>
            <a:pPr>
              <a:lnSpc>
                <a:spcPct val="90000"/>
              </a:lnSpc>
              <a:spcAft>
                <a:spcPts val="600"/>
              </a:spcAft>
            </a:pPr>
            <a:endParaRPr lang="en-US" sz="1200" dirty="0">
              <a:solidFill>
                <a:schemeClr val="tx2"/>
              </a:solidFill>
            </a:endParaRPr>
          </a:p>
          <a:p>
            <a:pPr>
              <a:lnSpc>
                <a:spcPct val="90000"/>
              </a:lnSpc>
              <a:spcAft>
                <a:spcPts val="600"/>
              </a:spcAft>
            </a:pPr>
            <a:r>
              <a:rPr lang="en-US" sz="1200" dirty="0">
                <a:solidFill>
                  <a:schemeClr val="tx2"/>
                </a:solidFill>
              </a:rPr>
              <a:t>•</a:t>
            </a:r>
            <a:r>
              <a:rPr lang="en-US" sz="1200" b="1" dirty="0">
                <a:solidFill>
                  <a:schemeClr val="tx2"/>
                </a:solidFill>
              </a:rPr>
              <a:t>Seamless Gym &amp; Trainer Access</a:t>
            </a:r>
            <a:r>
              <a:rPr lang="en-US" sz="1200" dirty="0">
                <a:solidFill>
                  <a:schemeClr val="tx2"/>
                </a:solidFill>
              </a:rPr>
              <a:t> – Similar to Swiggy and Zomato, users can search for nearby gyms, compare facilities, read reviews, and register instantly. Trainers can also connect with potential clients, creating a dynamic fitness network.</a:t>
            </a:r>
          </a:p>
          <a:p>
            <a:pPr>
              <a:lnSpc>
                <a:spcPct val="90000"/>
              </a:lnSpc>
              <a:spcAft>
                <a:spcPts val="600"/>
              </a:spcAft>
            </a:pPr>
            <a:endParaRPr lang="en-US" sz="1200" dirty="0">
              <a:solidFill>
                <a:schemeClr val="tx2"/>
              </a:solidFill>
            </a:endParaRPr>
          </a:p>
          <a:p>
            <a:pPr>
              <a:lnSpc>
                <a:spcPct val="90000"/>
              </a:lnSpc>
              <a:spcAft>
                <a:spcPts val="600"/>
              </a:spcAft>
            </a:pPr>
            <a:r>
              <a:rPr lang="en-US" sz="1200" dirty="0">
                <a:solidFill>
                  <a:schemeClr val="tx2"/>
                </a:solidFill>
              </a:rPr>
              <a:t>•</a:t>
            </a:r>
            <a:r>
              <a:rPr lang="en-US" sz="1200" b="1" dirty="0">
                <a:solidFill>
                  <a:schemeClr val="tx2"/>
                </a:solidFill>
              </a:rPr>
              <a:t>Data-Driven Health &amp; Nutrition Tracking</a:t>
            </a:r>
            <a:r>
              <a:rPr lang="en-US" sz="1200" dirty="0">
                <a:solidFill>
                  <a:schemeClr val="tx2"/>
                </a:solidFill>
              </a:rPr>
              <a:t> – The platform includes an advanced calorie tracker and diet planner, helping users monitor their daily intake, set fitness goals, and receive personalized meal plans based on their weight and fitness targets.</a:t>
            </a:r>
          </a:p>
          <a:p>
            <a:pPr>
              <a:lnSpc>
                <a:spcPct val="90000"/>
              </a:lnSpc>
              <a:spcAft>
                <a:spcPts val="600"/>
              </a:spcAft>
            </a:pPr>
            <a:endParaRPr lang="en-US" sz="1200" dirty="0">
              <a:solidFill>
                <a:schemeClr val="tx2"/>
              </a:solidFill>
            </a:endParaRPr>
          </a:p>
          <a:p>
            <a:pPr>
              <a:lnSpc>
                <a:spcPct val="90000"/>
              </a:lnSpc>
              <a:spcAft>
                <a:spcPts val="600"/>
              </a:spcAft>
            </a:pPr>
            <a:r>
              <a:rPr lang="en-US" sz="1200" dirty="0">
                <a:solidFill>
                  <a:schemeClr val="tx2"/>
                </a:solidFill>
              </a:rPr>
              <a:t>•</a:t>
            </a:r>
            <a:r>
              <a:rPr lang="en-US" sz="1200" b="1" dirty="0">
                <a:solidFill>
                  <a:schemeClr val="tx2"/>
                </a:solidFill>
              </a:rPr>
              <a:t>Convenient Equipment Rental &amp; Job Portal</a:t>
            </a:r>
            <a:r>
              <a:rPr lang="en-US" sz="1200" dirty="0">
                <a:solidFill>
                  <a:schemeClr val="tx2"/>
                </a:solidFill>
              </a:rPr>
              <a:t> – Users can rent high-quality gym equipment without the need for expensive purchases. Additionally, fitness professionals can explore job opportunities through the integrated job portal, connecting them with gyms and clients effortlessly.</a:t>
            </a:r>
          </a:p>
          <a:p>
            <a:pPr>
              <a:lnSpc>
                <a:spcPct val="90000"/>
              </a:lnSpc>
              <a:spcAft>
                <a:spcPts val="600"/>
              </a:spcAft>
            </a:pPr>
            <a:endParaRPr lang="en-US" sz="1200" dirty="0">
              <a:solidFill>
                <a:schemeClr val="tx2"/>
              </a:solidFill>
            </a:endParaRPr>
          </a:p>
        </p:txBody>
      </p:sp>
      <p:grpSp>
        <p:nvGrpSpPr>
          <p:cNvPr id="21" name="Group 20">
            <a:extLst>
              <a:ext uri="{FF2B5EF4-FFF2-40B4-BE49-F238E27FC236}">
                <a16:creationId xmlns:a16="http://schemas.microsoft.com/office/drawing/2014/main" xmlns="" id="{DD354807-230F-4402-B1B9-F733A8F1F190}"/>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5818240" y="-16714"/>
            <a:ext cx="6373761" cy="6874714"/>
            <a:chOff x="5818240" y="-1"/>
            <a:chExt cx="6373761" cy="6874714"/>
          </a:xfrm>
        </p:grpSpPr>
        <p:sp>
          <p:nvSpPr>
            <p:cNvPr id="22" name="Freeform: Shape 21">
              <a:extLst>
                <a:ext uri="{FF2B5EF4-FFF2-40B4-BE49-F238E27FC236}">
                  <a16:creationId xmlns:a16="http://schemas.microsoft.com/office/drawing/2014/main" xmlns="" id="{BF5A6F4A-CE87-4D5C-9382-8167967CE81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xmlns="" id="{61023DD2-2E6F-4419-B404-80F08460BEA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xmlns="" id="{BC4A6C98-F96E-4587-B01F-A9B01BBFAD0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xmlns="" id="{A66409EC-9CC3-482A-A4A5-54ED092B3F2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Dumbbell">
            <a:extLst>
              <a:ext uri="{FF2B5EF4-FFF2-40B4-BE49-F238E27FC236}">
                <a16:creationId xmlns:a16="http://schemas.microsoft.com/office/drawing/2014/main" xmlns="" id="{ACA5295D-F876-3489-4E17-C776007CDAD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7708392" y="1819656"/>
            <a:ext cx="4142232" cy="4142232"/>
          </a:xfrm>
          <a:prstGeom prst="rect">
            <a:avLst/>
          </a:prstGeom>
        </p:spPr>
      </p:pic>
    </p:spTree>
    <p:extLst>
      <p:ext uri="{BB962C8B-B14F-4D97-AF65-F5344CB8AC3E}">
        <p14:creationId xmlns:p14="http://schemas.microsoft.com/office/powerpoint/2010/main" val="27403317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xmlns="" id="{EDDBB197-D710-4A4F-A9CA-FD2177498BE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xmlns="" id="{975D1CFA-2CDB-4B64-BD9F-85744E8DA12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xmlns="" id="{92B63A99-3979-11BF-33E8-4442270A42E7}"/>
              </a:ext>
            </a:extLst>
          </p:cNvPr>
          <p:cNvSpPr txBox="1"/>
          <p:nvPr/>
        </p:nvSpPr>
        <p:spPr>
          <a:xfrm>
            <a:off x="804672" y="257432"/>
            <a:ext cx="4977976" cy="1454051"/>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3600" kern="1200">
                <a:solidFill>
                  <a:schemeClr val="tx2"/>
                </a:solidFill>
                <a:latin typeface="+mj-lt"/>
                <a:ea typeface="+mj-ea"/>
                <a:cs typeface="+mj-cs"/>
              </a:rPr>
              <a:t>PROBLEM STATEMENT</a:t>
            </a:r>
          </a:p>
        </p:txBody>
      </p:sp>
      <p:sp>
        <p:nvSpPr>
          <p:cNvPr id="3" name="TextBox 2">
            <a:extLst>
              <a:ext uri="{FF2B5EF4-FFF2-40B4-BE49-F238E27FC236}">
                <a16:creationId xmlns:a16="http://schemas.microsoft.com/office/drawing/2014/main" xmlns="" id="{03A27E32-D470-045A-8FE5-A844295B4432}"/>
              </a:ext>
            </a:extLst>
          </p:cNvPr>
          <p:cNvSpPr txBox="1"/>
          <p:nvPr/>
        </p:nvSpPr>
        <p:spPr>
          <a:xfrm>
            <a:off x="588194" y="1356614"/>
            <a:ext cx="4977578" cy="4842901"/>
          </a:xfrm>
          <a:prstGeom prst="rect">
            <a:avLst/>
          </a:prstGeom>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0000"/>
              </a:lnSpc>
              <a:spcAft>
                <a:spcPts val="600"/>
              </a:spcAft>
            </a:pPr>
            <a:r>
              <a:rPr lang="en-US" sz="1200">
                <a:solidFill>
                  <a:schemeClr val="tx2"/>
                </a:solidFill>
              </a:rPr>
              <a:t>•</a:t>
            </a:r>
            <a:r>
              <a:rPr lang="en-US" sz="1200" b="1">
                <a:solidFill>
                  <a:schemeClr val="tx2"/>
                </a:solidFill>
              </a:rPr>
              <a:t>Gym Job Portal</a:t>
            </a:r>
            <a:r>
              <a:rPr lang="en-US" sz="1200">
                <a:solidFill>
                  <a:schemeClr val="tx2"/>
                </a:solidFill>
              </a:rPr>
              <a:t> – A dedicated platform for fitness professionals to find job opportunities and for gym owners to hire trainers and staff easily.</a:t>
            </a:r>
          </a:p>
          <a:p>
            <a:pPr>
              <a:lnSpc>
                <a:spcPct val="90000"/>
              </a:lnSpc>
              <a:spcAft>
                <a:spcPts val="600"/>
              </a:spcAft>
            </a:pPr>
            <a:endParaRPr lang="en-US" sz="1200" dirty="0">
              <a:solidFill>
                <a:schemeClr val="tx2"/>
              </a:solidFill>
            </a:endParaRPr>
          </a:p>
          <a:p>
            <a:pPr>
              <a:lnSpc>
                <a:spcPct val="90000"/>
              </a:lnSpc>
              <a:spcAft>
                <a:spcPts val="600"/>
              </a:spcAft>
            </a:pPr>
            <a:r>
              <a:rPr lang="en-US" sz="1200">
                <a:solidFill>
                  <a:schemeClr val="tx2"/>
                </a:solidFill>
              </a:rPr>
              <a:t>•</a:t>
            </a:r>
            <a:r>
              <a:rPr lang="en-US" sz="1200" b="1">
                <a:solidFill>
                  <a:schemeClr val="tx2"/>
                </a:solidFill>
              </a:rPr>
              <a:t>Equipment Rental System</a:t>
            </a:r>
            <a:r>
              <a:rPr lang="en-US" sz="1200">
                <a:solidFill>
                  <a:schemeClr val="tx2"/>
                </a:solidFill>
              </a:rPr>
              <a:t> – Allows users to rent high-quality gym equipment at affordable prices, eliminating the need for costly purchases.</a:t>
            </a:r>
            <a:endParaRPr lang="en-US" sz="1200" dirty="0">
              <a:solidFill>
                <a:schemeClr val="tx2"/>
              </a:solidFill>
            </a:endParaRPr>
          </a:p>
          <a:p>
            <a:pPr>
              <a:lnSpc>
                <a:spcPct val="90000"/>
              </a:lnSpc>
              <a:spcAft>
                <a:spcPts val="600"/>
              </a:spcAft>
            </a:pPr>
            <a:endParaRPr lang="en-US" sz="1200" dirty="0">
              <a:solidFill>
                <a:schemeClr val="tx2"/>
              </a:solidFill>
            </a:endParaRPr>
          </a:p>
          <a:p>
            <a:pPr>
              <a:lnSpc>
                <a:spcPct val="90000"/>
              </a:lnSpc>
              <a:spcAft>
                <a:spcPts val="600"/>
              </a:spcAft>
            </a:pPr>
            <a:r>
              <a:rPr lang="en-US" sz="1200">
                <a:solidFill>
                  <a:schemeClr val="tx2"/>
                </a:solidFill>
              </a:rPr>
              <a:t>•</a:t>
            </a:r>
            <a:r>
              <a:rPr lang="en-US" sz="1200" b="1">
                <a:solidFill>
                  <a:schemeClr val="tx2"/>
                </a:solidFill>
              </a:rPr>
              <a:t>AI-Based Training System</a:t>
            </a:r>
            <a:r>
              <a:rPr lang="en-US" sz="1200">
                <a:solidFill>
                  <a:schemeClr val="tx2"/>
                </a:solidFill>
              </a:rPr>
              <a:t> – Uses OpenCV technology to provide real-time posture analysis, movement tracking, and personalized workout recommendations.</a:t>
            </a:r>
            <a:endParaRPr lang="en-US" sz="1200" dirty="0">
              <a:solidFill>
                <a:schemeClr val="tx2"/>
              </a:solidFill>
            </a:endParaRPr>
          </a:p>
          <a:p>
            <a:pPr>
              <a:lnSpc>
                <a:spcPct val="90000"/>
              </a:lnSpc>
              <a:spcAft>
                <a:spcPts val="600"/>
              </a:spcAft>
            </a:pPr>
            <a:endParaRPr lang="en-US" sz="1200" dirty="0">
              <a:solidFill>
                <a:schemeClr val="tx2"/>
              </a:solidFill>
            </a:endParaRPr>
          </a:p>
          <a:p>
            <a:pPr>
              <a:lnSpc>
                <a:spcPct val="90000"/>
              </a:lnSpc>
              <a:spcAft>
                <a:spcPts val="600"/>
              </a:spcAft>
            </a:pPr>
            <a:r>
              <a:rPr lang="en-US" sz="1200">
                <a:solidFill>
                  <a:schemeClr val="tx2"/>
                </a:solidFill>
              </a:rPr>
              <a:t>•</a:t>
            </a:r>
            <a:r>
              <a:rPr lang="en-US" sz="1200" b="1">
                <a:solidFill>
                  <a:schemeClr val="tx2"/>
                </a:solidFill>
              </a:rPr>
              <a:t>Calories Tracker &amp; Diet Planner</a:t>
            </a:r>
            <a:r>
              <a:rPr lang="en-US" sz="1200">
                <a:solidFill>
                  <a:schemeClr val="tx2"/>
                </a:solidFill>
              </a:rPr>
              <a:t> – Helps users monitor daily calorie intake, track weight changes, and receive personalized diet plans based on their fitness goals.</a:t>
            </a:r>
            <a:endParaRPr lang="en-US" sz="1200" dirty="0">
              <a:solidFill>
                <a:schemeClr val="tx2"/>
              </a:solidFill>
            </a:endParaRPr>
          </a:p>
          <a:p>
            <a:pPr>
              <a:lnSpc>
                <a:spcPct val="90000"/>
              </a:lnSpc>
              <a:spcAft>
                <a:spcPts val="600"/>
              </a:spcAft>
            </a:pPr>
            <a:endParaRPr lang="en-US" sz="1200" dirty="0">
              <a:solidFill>
                <a:schemeClr val="tx2"/>
              </a:solidFill>
            </a:endParaRPr>
          </a:p>
          <a:p>
            <a:pPr>
              <a:lnSpc>
                <a:spcPct val="90000"/>
              </a:lnSpc>
              <a:spcAft>
                <a:spcPts val="600"/>
              </a:spcAft>
            </a:pPr>
            <a:r>
              <a:rPr lang="en-US" sz="1200">
                <a:solidFill>
                  <a:schemeClr val="tx2"/>
                </a:solidFill>
              </a:rPr>
              <a:t>•</a:t>
            </a:r>
            <a:r>
              <a:rPr lang="en-US" sz="1200" b="1">
                <a:solidFill>
                  <a:schemeClr val="tx2"/>
                </a:solidFill>
              </a:rPr>
              <a:t>All Gyms in One Place &amp; Martial Art Trainers</a:t>
            </a:r>
            <a:r>
              <a:rPr lang="en-US" sz="1200">
                <a:solidFill>
                  <a:schemeClr val="tx2"/>
                </a:solidFill>
              </a:rPr>
              <a:t> – A centralized directory to search, compare, and register at local gyms, including access to expert martial arts trainers for specialized training.</a:t>
            </a:r>
            <a:endParaRPr lang="en-US" sz="1200" dirty="0">
              <a:solidFill>
                <a:schemeClr val="tx2"/>
              </a:solidFill>
            </a:endParaRPr>
          </a:p>
          <a:p>
            <a:pPr>
              <a:lnSpc>
                <a:spcPct val="90000"/>
              </a:lnSpc>
              <a:spcAft>
                <a:spcPts val="600"/>
              </a:spcAft>
            </a:pPr>
            <a:endParaRPr lang="en-US" sz="1200" dirty="0">
              <a:solidFill>
                <a:schemeClr val="tx2"/>
              </a:solidFill>
            </a:endParaRPr>
          </a:p>
          <a:p>
            <a:pPr>
              <a:lnSpc>
                <a:spcPct val="90000"/>
              </a:lnSpc>
              <a:spcAft>
                <a:spcPts val="600"/>
              </a:spcAft>
            </a:pPr>
            <a:r>
              <a:rPr lang="en-US" sz="1200">
                <a:solidFill>
                  <a:schemeClr val="tx2"/>
                </a:solidFill>
              </a:rPr>
              <a:t>•</a:t>
            </a:r>
            <a:r>
              <a:rPr lang="en-US" sz="1200" b="1">
                <a:solidFill>
                  <a:schemeClr val="tx2"/>
                </a:solidFill>
              </a:rPr>
              <a:t>Easy Gym Registrations</a:t>
            </a:r>
            <a:r>
              <a:rPr lang="en-US" sz="1200">
                <a:solidFill>
                  <a:schemeClr val="tx2"/>
                </a:solidFill>
              </a:rPr>
              <a:t> – Simplifies the process of signing up for gym memberships, allowing users to register instantly with their preferred fitness center.</a:t>
            </a:r>
            <a:endParaRPr lang="en-US" sz="1200" dirty="0">
              <a:solidFill>
                <a:schemeClr val="tx2"/>
              </a:solidFill>
            </a:endParaRPr>
          </a:p>
          <a:p>
            <a:pPr>
              <a:lnSpc>
                <a:spcPct val="90000"/>
              </a:lnSpc>
              <a:spcAft>
                <a:spcPts val="600"/>
              </a:spcAft>
            </a:pPr>
            <a:endParaRPr lang="en-US" sz="1200" dirty="0">
              <a:solidFill>
                <a:schemeClr val="tx2"/>
              </a:solidFill>
            </a:endParaRPr>
          </a:p>
        </p:txBody>
      </p:sp>
      <p:grpSp>
        <p:nvGrpSpPr>
          <p:cNvPr id="14" name="Group 13">
            <a:extLst>
              <a:ext uri="{FF2B5EF4-FFF2-40B4-BE49-F238E27FC236}">
                <a16:creationId xmlns:a16="http://schemas.microsoft.com/office/drawing/2014/main" xmlns="" id="{25EE5136-01F1-466C-962D-BA9B4C6757AA}"/>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xmlns="" id="{E11D3AD4-AF9B-4EB5-8C7B-C45D173B4B5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xmlns="" id="{15102EBE-A80F-4CFF-B1DD-941EF9728B5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xmlns="" id="{EC18CE1F-9DF1-47AF-9E66-6CE348AC233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xmlns="" id="{5BD26A8C-8D1D-41E6-A71E-FE9AC75F3F8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Dumbbell">
            <a:extLst>
              <a:ext uri="{FF2B5EF4-FFF2-40B4-BE49-F238E27FC236}">
                <a16:creationId xmlns:a16="http://schemas.microsoft.com/office/drawing/2014/main" xmlns="" id="{6C5ACB0F-2822-EC19-BF14-4F2E8E08171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20445887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EDDBB197-D710-4A4F-A9CA-FD2177498BE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975D1CFA-2CDB-4B64-BD9F-85744E8DA12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xmlns="" id="{C0959362-8A8E-B54E-274C-BE030F22B099}"/>
              </a:ext>
            </a:extLst>
          </p:cNvPr>
          <p:cNvSpPr txBox="1"/>
          <p:nvPr/>
        </p:nvSpPr>
        <p:spPr>
          <a:xfrm>
            <a:off x="804672" y="802955"/>
            <a:ext cx="4977976" cy="1454051"/>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3600" kern="1200">
                <a:solidFill>
                  <a:schemeClr val="tx2"/>
                </a:solidFill>
                <a:latin typeface="+mj-lt"/>
                <a:ea typeface="+mj-ea"/>
                <a:cs typeface="+mj-cs"/>
              </a:rPr>
              <a:t>OUR SERVICES</a:t>
            </a:r>
          </a:p>
        </p:txBody>
      </p:sp>
      <p:sp>
        <p:nvSpPr>
          <p:cNvPr id="3" name="TextBox 2">
            <a:extLst>
              <a:ext uri="{FF2B5EF4-FFF2-40B4-BE49-F238E27FC236}">
                <a16:creationId xmlns:a16="http://schemas.microsoft.com/office/drawing/2014/main" xmlns="" id="{623D3AA3-1B47-9E44-167D-40CD583F5DD5}"/>
              </a:ext>
            </a:extLst>
          </p:cNvPr>
          <p:cNvSpPr txBox="1"/>
          <p:nvPr/>
        </p:nvSpPr>
        <p:spPr>
          <a:xfrm>
            <a:off x="588195" y="1824205"/>
            <a:ext cx="4977578" cy="4531175"/>
          </a:xfrm>
          <a:prstGeom prst="rect">
            <a:avLst/>
          </a:prstGeom>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0000"/>
              </a:lnSpc>
              <a:spcAft>
                <a:spcPts val="600"/>
              </a:spcAft>
            </a:pPr>
            <a:r>
              <a:rPr lang="en-US" sz="1200">
                <a:solidFill>
                  <a:schemeClr val="tx2"/>
                </a:solidFill>
              </a:rPr>
              <a:t>•</a:t>
            </a:r>
            <a:r>
              <a:rPr lang="en-US" sz="1200" b="1">
                <a:solidFill>
                  <a:schemeClr val="tx2"/>
                </a:solidFill>
              </a:rPr>
              <a:t>Gym Job Portal</a:t>
            </a:r>
            <a:r>
              <a:rPr lang="en-US" sz="1200">
                <a:solidFill>
                  <a:schemeClr val="tx2"/>
                </a:solidFill>
              </a:rPr>
              <a:t> – A dedicated platform for fitness professionals to find job opportunities and for gym owners to hire trainers and staff easily.</a:t>
            </a:r>
          </a:p>
          <a:p>
            <a:pPr>
              <a:lnSpc>
                <a:spcPct val="90000"/>
              </a:lnSpc>
              <a:spcAft>
                <a:spcPts val="600"/>
              </a:spcAft>
            </a:pPr>
            <a:endParaRPr lang="en-US" sz="1200" dirty="0">
              <a:solidFill>
                <a:schemeClr val="tx2"/>
              </a:solidFill>
            </a:endParaRPr>
          </a:p>
          <a:p>
            <a:pPr>
              <a:lnSpc>
                <a:spcPct val="90000"/>
              </a:lnSpc>
              <a:spcAft>
                <a:spcPts val="600"/>
              </a:spcAft>
            </a:pPr>
            <a:r>
              <a:rPr lang="en-US" sz="1200">
                <a:solidFill>
                  <a:schemeClr val="tx2"/>
                </a:solidFill>
              </a:rPr>
              <a:t>•</a:t>
            </a:r>
            <a:r>
              <a:rPr lang="en-US" sz="1200" b="1">
                <a:solidFill>
                  <a:schemeClr val="tx2"/>
                </a:solidFill>
              </a:rPr>
              <a:t>Equipment Rental System</a:t>
            </a:r>
            <a:r>
              <a:rPr lang="en-US" sz="1200">
                <a:solidFill>
                  <a:schemeClr val="tx2"/>
                </a:solidFill>
              </a:rPr>
              <a:t> – Allows users to rent high-quality gym equipment at affordable prices, eliminating the need for costly purchases.</a:t>
            </a:r>
            <a:endParaRPr lang="en-US" sz="1200" dirty="0">
              <a:solidFill>
                <a:schemeClr val="tx2"/>
              </a:solidFill>
            </a:endParaRPr>
          </a:p>
          <a:p>
            <a:pPr>
              <a:lnSpc>
                <a:spcPct val="90000"/>
              </a:lnSpc>
              <a:spcAft>
                <a:spcPts val="600"/>
              </a:spcAft>
            </a:pPr>
            <a:endParaRPr lang="en-US" sz="1200" dirty="0">
              <a:solidFill>
                <a:schemeClr val="tx2"/>
              </a:solidFill>
            </a:endParaRPr>
          </a:p>
          <a:p>
            <a:pPr>
              <a:lnSpc>
                <a:spcPct val="90000"/>
              </a:lnSpc>
              <a:spcAft>
                <a:spcPts val="600"/>
              </a:spcAft>
            </a:pPr>
            <a:r>
              <a:rPr lang="en-US" sz="1200">
                <a:solidFill>
                  <a:schemeClr val="tx2"/>
                </a:solidFill>
              </a:rPr>
              <a:t>•</a:t>
            </a:r>
            <a:r>
              <a:rPr lang="en-US" sz="1200" b="1">
                <a:solidFill>
                  <a:schemeClr val="tx2"/>
                </a:solidFill>
              </a:rPr>
              <a:t>AI-Based Training System</a:t>
            </a:r>
            <a:r>
              <a:rPr lang="en-US" sz="1200">
                <a:solidFill>
                  <a:schemeClr val="tx2"/>
                </a:solidFill>
              </a:rPr>
              <a:t> – Uses OpenCV technology to provide real-time posture analysis, movement tracking, and  count repetations.</a:t>
            </a:r>
            <a:endParaRPr lang="en-US" sz="1200" dirty="0">
              <a:solidFill>
                <a:schemeClr val="tx2"/>
              </a:solidFill>
            </a:endParaRPr>
          </a:p>
          <a:p>
            <a:pPr>
              <a:lnSpc>
                <a:spcPct val="90000"/>
              </a:lnSpc>
              <a:spcAft>
                <a:spcPts val="600"/>
              </a:spcAft>
            </a:pPr>
            <a:endParaRPr lang="en-US" sz="1200" dirty="0">
              <a:solidFill>
                <a:schemeClr val="tx2"/>
              </a:solidFill>
            </a:endParaRPr>
          </a:p>
          <a:p>
            <a:pPr>
              <a:lnSpc>
                <a:spcPct val="90000"/>
              </a:lnSpc>
              <a:spcAft>
                <a:spcPts val="600"/>
              </a:spcAft>
            </a:pPr>
            <a:r>
              <a:rPr lang="en-US" sz="1200">
                <a:solidFill>
                  <a:schemeClr val="tx2"/>
                </a:solidFill>
              </a:rPr>
              <a:t>•</a:t>
            </a:r>
            <a:r>
              <a:rPr lang="en-US" sz="1200" b="1">
                <a:solidFill>
                  <a:schemeClr val="tx2"/>
                </a:solidFill>
              </a:rPr>
              <a:t>Calories Tracker &amp; Diet Planner</a:t>
            </a:r>
            <a:r>
              <a:rPr lang="en-US" sz="1200">
                <a:solidFill>
                  <a:schemeClr val="tx2"/>
                </a:solidFill>
              </a:rPr>
              <a:t> – Helps users monitor daily calorie intake, track BMI changes, and receive personalized diet plans based on their BMI.</a:t>
            </a:r>
            <a:endParaRPr lang="en-US" sz="1200" dirty="0">
              <a:solidFill>
                <a:schemeClr val="tx2"/>
              </a:solidFill>
            </a:endParaRPr>
          </a:p>
          <a:p>
            <a:pPr>
              <a:lnSpc>
                <a:spcPct val="90000"/>
              </a:lnSpc>
              <a:spcAft>
                <a:spcPts val="600"/>
              </a:spcAft>
            </a:pPr>
            <a:endParaRPr lang="en-US" sz="1200" dirty="0">
              <a:solidFill>
                <a:schemeClr val="tx2"/>
              </a:solidFill>
            </a:endParaRPr>
          </a:p>
          <a:p>
            <a:pPr>
              <a:lnSpc>
                <a:spcPct val="90000"/>
              </a:lnSpc>
              <a:spcAft>
                <a:spcPts val="600"/>
              </a:spcAft>
            </a:pPr>
            <a:r>
              <a:rPr lang="en-US" sz="1200">
                <a:solidFill>
                  <a:schemeClr val="tx2"/>
                </a:solidFill>
              </a:rPr>
              <a:t>•</a:t>
            </a:r>
            <a:r>
              <a:rPr lang="en-US" sz="1200" b="1">
                <a:solidFill>
                  <a:schemeClr val="tx2"/>
                </a:solidFill>
              </a:rPr>
              <a:t>All Gyms in One Place &amp; Martial Art Trainers</a:t>
            </a:r>
            <a:r>
              <a:rPr lang="en-US" sz="1200">
                <a:solidFill>
                  <a:schemeClr val="tx2"/>
                </a:solidFill>
              </a:rPr>
              <a:t> – A centralized directory to search, compare, and register at local gyms, including access to expert martial arts trainers for specialized training.</a:t>
            </a:r>
            <a:endParaRPr lang="en-US" sz="1200" dirty="0">
              <a:solidFill>
                <a:schemeClr val="tx2"/>
              </a:solidFill>
            </a:endParaRPr>
          </a:p>
          <a:p>
            <a:pPr>
              <a:lnSpc>
                <a:spcPct val="90000"/>
              </a:lnSpc>
              <a:spcAft>
                <a:spcPts val="600"/>
              </a:spcAft>
            </a:pPr>
            <a:endParaRPr lang="en-US" sz="1200" dirty="0">
              <a:solidFill>
                <a:schemeClr val="tx2"/>
              </a:solidFill>
            </a:endParaRPr>
          </a:p>
          <a:p>
            <a:pPr>
              <a:lnSpc>
                <a:spcPct val="90000"/>
              </a:lnSpc>
              <a:spcAft>
                <a:spcPts val="600"/>
              </a:spcAft>
            </a:pPr>
            <a:r>
              <a:rPr lang="en-US" sz="1200">
                <a:solidFill>
                  <a:schemeClr val="tx2"/>
                </a:solidFill>
              </a:rPr>
              <a:t>•</a:t>
            </a:r>
            <a:r>
              <a:rPr lang="en-US" sz="1200" b="1">
                <a:solidFill>
                  <a:schemeClr val="tx2"/>
                </a:solidFill>
              </a:rPr>
              <a:t>Easy Gym Registrations</a:t>
            </a:r>
            <a:r>
              <a:rPr lang="en-US" sz="1200">
                <a:solidFill>
                  <a:schemeClr val="tx2"/>
                </a:solidFill>
              </a:rPr>
              <a:t> – Simplifies the process of signing up for gym memberships, allowing users to register instantly with their preferred fitness center.</a:t>
            </a:r>
            <a:endParaRPr lang="en-US" sz="1200" dirty="0">
              <a:solidFill>
                <a:schemeClr val="tx2"/>
              </a:solidFill>
            </a:endParaRPr>
          </a:p>
          <a:p>
            <a:pPr>
              <a:lnSpc>
                <a:spcPct val="90000"/>
              </a:lnSpc>
              <a:spcAft>
                <a:spcPts val="600"/>
              </a:spcAft>
            </a:pPr>
            <a:endParaRPr lang="en-US" sz="1200" dirty="0">
              <a:solidFill>
                <a:schemeClr val="tx2"/>
              </a:solidFill>
            </a:endParaRPr>
          </a:p>
        </p:txBody>
      </p:sp>
      <p:grpSp>
        <p:nvGrpSpPr>
          <p:cNvPr id="14" name="Group 13">
            <a:extLst>
              <a:ext uri="{FF2B5EF4-FFF2-40B4-BE49-F238E27FC236}">
                <a16:creationId xmlns:a16="http://schemas.microsoft.com/office/drawing/2014/main" xmlns="" id="{25EE5136-01F1-466C-962D-BA9B4C6757AA}"/>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xmlns="" id="{E11D3AD4-AF9B-4EB5-8C7B-C45D173B4B5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xmlns="" id="{15102EBE-A80F-4CFF-B1DD-941EF9728B5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xmlns="" id="{EC18CE1F-9DF1-47AF-9E66-6CE348AC233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xmlns="" id="{5BD26A8C-8D1D-41E6-A71E-FE9AC75F3F8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Dumbbell">
            <a:extLst>
              <a:ext uri="{FF2B5EF4-FFF2-40B4-BE49-F238E27FC236}">
                <a16:creationId xmlns:a16="http://schemas.microsoft.com/office/drawing/2014/main" xmlns="" id="{4F2B2FF8-C885-DC04-A696-D8F6046DF49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4655690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EDDBB197-D710-4A4F-A9CA-FD2177498BE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xmlns="" id="{975D1CFA-2CDB-4B64-BD9F-85744E8DA12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xmlns="" id="{1C8B8C2B-AC87-2156-884E-78B79F7E3870}"/>
              </a:ext>
            </a:extLst>
          </p:cNvPr>
          <p:cNvSpPr txBox="1"/>
          <p:nvPr/>
        </p:nvSpPr>
        <p:spPr>
          <a:xfrm>
            <a:off x="839308" y="1339296"/>
            <a:ext cx="4977578" cy="3639289"/>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2800">
                <a:solidFill>
                  <a:schemeClr val="tx2"/>
                </a:solidFill>
              </a:rPr>
              <a:t>WORK DONE TILL NOW</a:t>
            </a:r>
          </a:p>
        </p:txBody>
      </p:sp>
      <p:grpSp>
        <p:nvGrpSpPr>
          <p:cNvPr id="13" name="Group 12">
            <a:extLst>
              <a:ext uri="{FF2B5EF4-FFF2-40B4-BE49-F238E27FC236}">
                <a16:creationId xmlns:a16="http://schemas.microsoft.com/office/drawing/2014/main" xmlns="" id="{25EE5136-01F1-466C-962D-BA9B4C6757AA}"/>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6369897" y="0"/>
            <a:ext cx="5822103" cy="6685267"/>
            <a:chOff x="6357228" y="0"/>
            <a:chExt cx="5822103" cy="6685267"/>
          </a:xfrm>
        </p:grpSpPr>
        <p:sp>
          <p:nvSpPr>
            <p:cNvPr id="14" name="Freeform: Shape 13">
              <a:extLst>
                <a:ext uri="{FF2B5EF4-FFF2-40B4-BE49-F238E27FC236}">
                  <a16:creationId xmlns:a16="http://schemas.microsoft.com/office/drawing/2014/main" xmlns="" id="{E11D3AD4-AF9B-4EB5-8C7B-C45D173B4B5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xmlns="" id="{15102EBE-A80F-4CFF-B1DD-941EF9728B5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xmlns="" id="{EC18CE1F-9DF1-47AF-9E66-6CE348AC233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xmlns="" id="{5BD26A8C-8D1D-41E6-A71E-FE9AC75F3F8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Graphic 5" descr="Checkmark">
            <a:extLst>
              <a:ext uri="{FF2B5EF4-FFF2-40B4-BE49-F238E27FC236}">
                <a16:creationId xmlns:a16="http://schemas.microsoft.com/office/drawing/2014/main" xmlns="" id="{DB8FD80B-7B22-4435-9FC8-C68D07C6E78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35771101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EDDBB197-D710-4A4F-A9CA-FD2177498BE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975D1CFA-2CDB-4B64-BD9F-85744E8DA12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xmlns="" id="{EC43F0A6-8077-AB23-1E57-FEEF2A193818}"/>
              </a:ext>
            </a:extLst>
          </p:cNvPr>
          <p:cNvSpPr txBox="1"/>
          <p:nvPr/>
        </p:nvSpPr>
        <p:spPr>
          <a:xfrm>
            <a:off x="804672" y="802955"/>
            <a:ext cx="4977976" cy="1454051"/>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3600" kern="1200">
                <a:solidFill>
                  <a:schemeClr val="tx2"/>
                </a:solidFill>
                <a:latin typeface="+mj-lt"/>
                <a:ea typeface="+mj-ea"/>
                <a:cs typeface="+mj-cs"/>
              </a:rPr>
              <a:t>AI Workout Trainer</a:t>
            </a:r>
          </a:p>
        </p:txBody>
      </p:sp>
      <p:sp>
        <p:nvSpPr>
          <p:cNvPr id="3" name="TextBox 2">
            <a:extLst>
              <a:ext uri="{FF2B5EF4-FFF2-40B4-BE49-F238E27FC236}">
                <a16:creationId xmlns:a16="http://schemas.microsoft.com/office/drawing/2014/main" xmlns="" id="{23395E7D-97FE-EE8D-6A22-E75F312E20CC}"/>
              </a:ext>
            </a:extLst>
          </p:cNvPr>
          <p:cNvSpPr txBox="1"/>
          <p:nvPr/>
        </p:nvSpPr>
        <p:spPr>
          <a:xfrm>
            <a:off x="666127" y="2395705"/>
            <a:ext cx="4977578" cy="3102426"/>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Aft>
                <a:spcPts val="600"/>
              </a:spcAft>
            </a:pPr>
            <a:r>
              <a:rPr lang="en-US" sz="2000">
                <a:solidFill>
                  <a:schemeClr val="tx2"/>
                </a:solidFill>
              </a:rPr>
              <a:t>•- Uses OpenCV and MediaPipe for pose detection</a:t>
            </a:r>
          </a:p>
          <a:p>
            <a:pPr>
              <a:lnSpc>
                <a:spcPct val="90000"/>
              </a:lnSpc>
              <a:spcAft>
                <a:spcPts val="600"/>
              </a:spcAft>
            </a:pPr>
            <a:endParaRPr lang="en-US" sz="2000" dirty="0">
              <a:solidFill>
                <a:schemeClr val="tx2"/>
              </a:solidFill>
            </a:endParaRPr>
          </a:p>
          <a:p>
            <a:pPr>
              <a:lnSpc>
                <a:spcPct val="90000"/>
              </a:lnSpc>
              <a:spcAft>
                <a:spcPts val="600"/>
              </a:spcAft>
            </a:pPr>
            <a:r>
              <a:rPr lang="en-US" sz="2000">
                <a:solidFill>
                  <a:schemeClr val="tx2"/>
                </a:solidFill>
              </a:rPr>
              <a:t>•- Provides real-time angle detection on workout posture</a:t>
            </a:r>
          </a:p>
          <a:p>
            <a:pPr>
              <a:lnSpc>
                <a:spcPct val="90000"/>
              </a:lnSpc>
              <a:spcAft>
                <a:spcPts val="600"/>
              </a:spcAft>
            </a:pPr>
            <a:endParaRPr lang="en-US" sz="2000" dirty="0">
              <a:solidFill>
                <a:schemeClr val="tx2"/>
              </a:solidFill>
            </a:endParaRPr>
          </a:p>
          <a:p>
            <a:pPr>
              <a:lnSpc>
                <a:spcPct val="90000"/>
              </a:lnSpc>
              <a:spcAft>
                <a:spcPts val="600"/>
              </a:spcAft>
            </a:pPr>
            <a:r>
              <a:rPr lang="en-US" sz="2000">
                <a:solidFill>
                  <a:schemeClr val="tx2"/>
                </a:solidFill>
              </a:rPr>
              <a:t>•- Tracks repetitions and form correction</a:t>
            </a:r>
          </a:p>
          <a:p>
            <a:pPr>
              <a:lnSpc>
                <a:spcPct val="90000"/>
              </a:lnSpc>
              <a:spcAft>
                <a:spcPts val="600"/>
              </a:spcAft>
            </a:pPr>
            <a:endParaRPr lang="en-US" sz="2000" dirty="0">
              <a:solidFill>
                <a:schemeClr val="tx2"/>
              </a:solidFill>
            </a:endParaRPr>
          </a:p>
          <a:p>
            <a:pPr>
              <a:lnSpc>
                <a:spcPct val="90000"/>
              </a:lnSpc>
              <a:spcAft>
                <a:spcPts val="600"/>
              </a:spcAft>
            </a:pPr>
            <a:r>
              <a:rPr lang="en-US" sz="2000">
                <a:solidFill>
                  <a:schemeClr val="tx2"/>
                </a:solidFill>
              </a:rPr>
              <a:t>•- Works as a virtual personal trainer</a:t>
            </a:r>
          </a:p>
          <a:p>
            <a:pPr indent="-228600">
              <a:lnSpc>
                <a:spcPct val="90000"/>
              </a:lnSpc>
              <a:spcAft>
                <a:spcPts val="600"/>
              </a:spcAft>
              <a:buFont typeface="Arial" panose="020B0604020202020204" pitchFamily="34" charset="0"/>
              <a:buChar char="•"/>
            </a:pPr>
            <a:endParaRPr lang="en-US">
              <a:solidFill>
                <a:schemeClr val="tx2"/>
              </a:solidFill>
            </a:endParaRPr>
          </a:p>
        </p:txBody>
      </p:sp>
      <p:grpSp>
        <p:nvGrpSpPr>
          <p:cNvPr id="14" name="Group 13">
            <a:extLst>
              <a:ext uri="{FF2B5EF4-FFF2-40B4-BE49-F238E27FC236}">
                <a16:creationId xmlns:a16="http://schemas.microsoft.com/office/drawing/2014/main" xmlns="" id="{25EE5136-01F1-466C-962D-BA9B4C6757AA}"/>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xmlns="" id="{E11D3AD4-AF9B-4EB5-8C7B-C45D173B4B5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xmlns="" id="{15102EBE-A80F-4CFF-B1DD-941EF9728B5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xmlns="" id="{EC18CE1F-9DF1-47AF-9E66-6CE348AC233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xmlns="" id="{5BD26A8C-8D1D-41E6-A71E-FE9AC75F3F8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Body Builder">
            <a:extLst>
              <a:ext uri="{FF2B5EF4-FFF2-40B4-BE49-F238E27FC236}">
                <a16:creationId xmlns:a16="http://schemas.microsoft.com/office/drawing/2014/main" xmlns="" id="{4B6E78A4-2439-352B-0495-37B22FE046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16264826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xmlns="" id="{EDDBB197-D710-4A4F-A9CA-FD2177498BE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xmlns="" id="{975D1CFA-2CDB-4B64-BD9F-85744E8DA12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xmlns="" id="{71AB4D11-830F-44A9-918E-9EE4468555F7}"/>
              </a:ext>
            </a:extLst>
          </p:cNvPr>
          <p:cNvSpPr txBox="1"/>
          <p:nvPr/>
        </p:nvSpPr>
        <p:spPr>
          <a:xfrm>
            <a:off x="804672" y="802955"/>
            <a:ext cx="4977976" cy="1454051"/>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3600" kern="1200">
                <a:solidFill>
                  <a:schemeClr val="tx2"/>
                </a:solidFill>
                <a:latin typeface="+mj-lt"/>
                <a:ea typeface="+mj-ea"/>
                <a:cs typeface="+mj-cs"/>
              </a:rPr>
              <a:t>AI BICEP CURL TRAINER</a:t>
            </a:r>
          </a:p>
        </p:txBody>
      </p:sp>
      <p:sp>
        <p:nvSpPr>
          <p:cNvPr id="3" name="TextBox 2">
            <a:extLst>
              <a:ext uri="{FF2B5EF4-FFF2-40B4-BE49-F238E27FC236}">
                <a16:creationId xmlns:a16="http://schemas.microsoft.com/office/drawing/2014/main" xmlns="" id="{4EC2F2A0-3FEB-3900-7C4C-E3BA2AC3C7B7}"/>
              </a:ext>
            </a:extLst>
          </p:cNvPr>
          <p:cNvSpPr txBox="1"/>
          <p:nvPr/>
        </p:nvSpPr>
        <p:spPr>
          <a:xfrm>
            <a:off x="804672" y="2421682"/>
            <a:ext cx="4977578" cy="3639289"/>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1500">
                <a:solidFill>
                  <a:schemeClr val="tx2"/>
                </a:solidFill>
              </a:rPr>
              <a:t>Real-time Arm Position Tracking – Detects elbow and wrist angles during curls.</a:t>
            </a:r>
          </a:p>
          <a:p>
            <a:pPr indent="-228600">
              <a:lnSpc>
                <a:spcPct val="90000"/>
              </a:lnSpc>
              <a:spcAft>
                <a:spcPts val="600"/>
              </a:spcAft>
              <a:buFont typeface="Arial" panose="020B0604020202020204" pitchFamily="34" charset="0"/>
              <a:buChar char="•"/>
            </a:pPr>
            <a:endParaRPr lang="en-US" sz="1500">
              <a:solidFill>
                <a:schemeClr val="tx2"/>
              </a:solidFill>
            </a:endParaRPr>
          </a:p>
          <a:p>
            <a:pPr indent="-228600">
              <a:lnSpc>
                <a:spcPct val="90000"/>
              </a:lnSpc>
              <a:spcAft>
                <a:spcPts val="600"/>
              </a:spcAft>
              <a:buFont typeface="Arial" panose="020B0604020202020204" pitchFamily="34" charset="0"/>
              <a:buChar char="•"/>
            </a:pPr>
            <a:r>
              <a:rPr lang="en-US" sz="1500">
                <a:solidFill>
                  <a:schemeClr val="tx2"/>
                </a:solidFill>
              </a:rPr>
              <a:t>Repetition Counter – Automatically counts the number of correct bicep curls.</a:t>
            </a:r>
          </a:p>
          <a:p>
            <a:pPr indent="-228600">
              <a:lnSpc>
                <a:spcPct val="90000"/>
              </a:lnSpc>
              <a:spcAft>
                <a:spcPts val="600"/>
              </a:spcAft>
              <a:buFont typeface="Arial" panose="020B0604020202020204" pitchFamily="34" charset="0"/>
              <a:buChar char="•"/>
            </a:pPr>
            <a:endParaRPr lang="en-US" sz="1500">
              <a:solidFill>
                <a:schemeClr val="tx2"/>
              </a:solidFill>
            </a:endParaRPr>
          </a:p>
          <a:p>
            <a:pPr indent="-228600">
              <a:lnSpc>
                <a:spcPct val="90000"/>
              </a:lnSpc>
              <a:spcAft>
                <a:spcPts val="600"/>
              </a:spcAft>
              <a:buFont typeface="Arial" panose="020B0604020202020204" pitchFamily="34" charset="0"/>
              <a:buChar char="•"/>
            </a:pPr>
            <a:r>
              <a:rPr lang="en-US" sz="1500">
                <a:solidFill>
                  <a:schemeClr val="tx2"/>
                </a:solidFill>
              </a:rPr>
              <a:t>User starts performing bicep curls in front of a camera – AI detects elbow, wrist, and shoulder key points.</a:t>
            </a:r>
          </a:p>
          <a:p>
            <a:pPr indent="-228600">
              <a:lnSpc>
                <a:spcPct val="90000"/>
              </a:lnSpc>
              <a:spcAft>
                <a:spcPts val="600"/>
              </a:spcAft>
              <a:buFont typeface="Arial" panose="020B0604020202020204" pitchFamily="34" charset="0"/>
              <a:buChar char="•"/>
            </a:pPr>
            <a:endParaRPr lang="en-US" sz="1500">
              <a:solidFill>
                <a:schemeClr val="tx2"/>
              </a:solidFill>
            </a:endParaRPr>
          </a:p>
          <a:p>
            <a:pPr indent="-228600">
              <a:lnSpc>
                <a:spcPct val="90000"/>
              </a:lnSpc>
              <a:spcAft>
                <a:spcPts val="600"/>
              </a:spcAft>
              <a:buFont typeface="Arial" panose="020B0604020202020204" pitchFamily="34" charset="0"/>
              <a:buChar char="•"/>
            </a:pPr>
            <a:r>
              <a:rPr lang="en-US" sz="1500">
                <a:solidFill>
                  <a:schemeClr val="tx2"/>
                </a:solidFill>
              </a:rPr>
              <a:t>AI analyzes motion and form – Checks if full range of motion is achieved.</a:t>
            </a:r>
          </a:p>
          <a:p>
            <a:pPr indent="-228600">
              <a:lnSpc>
                <a:spcPct val="90000"/>
              </a:lnSpc>
              <a:spcAft>
                <a:spcPts val="600"/>
              </a:spcAft>
              <a:buFont typeface="Arial" panose="020B0604020202020204" pitchFamily="34" charset="0"/>
              <a:buChar char="•"/>
            </a:pPr>
            <a:endParaRPr lang="en-US" sz="1500">
              <a:solidFill>
                <a:schemeClr val="tx2"/>
              </a:solidFill>
            </a:endParaRPr>
          </a:p>
          <a:p>
            <a:pPr indent="-228600">
              <a:lnSpc>
                <a:spcPct val="90000"/>
              </a:lnSpc>
              <a:spcAft>
                <a:spcPts val="600"/>
              </a:spcAft>
              <a:buFont typeface="Arial" panose="020B0604020202020204" pitchFamily="34" charset="0"/>
              <a:buChar char="•"/>
            </a:pPr>
            <a:r>
              <a:rPr lang="en-US" sz="1500">
                <a:solidFill>
                  <a:schemeClr val="tx2"/>
                </a:solidFill>
              </a:rPr>
              <a:t>Improves exercise efficiency by ensuring correct muscle engagement.</a:t>
            </a:r>
          </a:p>
        </p:txBody>
      </p:sp>
      <p:grpSp>
        <p:nvGrpSpPr>
          <p:cNvPr id="59" name="Group 58">
            <a:extLst>
              <a:ext uri="{FF2B5EF4-FFF2-40B4-BE49-F238E27FC236}">
                <a16:creationId xmlns:a16="http://schemas.microsoft.com/office/drawing/2014/main" xmlns="" id="{25EE5136-01F1-466C-962D-BA9B4C6757AA}"/>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6369897" y="0"/>
            <a:ext cx="5822103" cy="6685267"/>
            <a:chOff x="6357228" y="0"/>
            <a:chExt cx="5822103" cy="6685267"/>
          </a:xfrm>
        </p:grpSpPr>
        <p:sp>
          <p:nvSpPr>
            <p:cNvPr id="60" name="Freeform: Shape 59">
              <a:extLst>
                <a:ext uri="{FF2B5EF4-FFF2-40B4-BE49-F238E27FC236}">
                  <a16:creationId xmlns:a16="http://schemas.microsoft.com/office/drawing/2014/main" xmlns="" id="{E11D3AD4-AF9B-4EB5-8C7B-C45D173B4B5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xmlns="" id="{15102EBE-A80F-4CFF-B1DD-941EF9728B5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Shape 61">
              <a:extLst>
                <a:ext uri="{FF2B5EF4-FFF2-40B4-BE49-F238E27FC236}">
                  <a16:creationId xmlns:a16="http://schemas.microsoft.com/office/drawing/2014/main" xmlns="" id="{EC18CE1F-9DF1-47AF-9E66-6CE348AC233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Shape 62">
              <a:extLst>
                <a:ext uri="{FF2B5EF4-FFF2-40B4-BE49-F238E27FC236}">
                  <a16:creationId xmlns:a16="http://schemas.microsoft.com/office/drawing/2014/main" xmlns="" id="{5BD26A8C-8D1D-41E6-A71E-FE9AC75F3F8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Graphic 4" descr="Robot">
            <a:extLst>
              <a:ext uri="{FF2B5EF4-FFF2-40B4-BE49-F238E27FC236}">
                <a16:creationId xmlns:a16="http://schemas.microsoft.com/office/drawing/2014/main" xmlns="" id="{C9B0AA79-61BE-6D48-80F9-B35B0B72DD0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37706931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xmlns="" id="{B6FACB3C-9069-4791-BC5C-0DB7CD19B85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xmlns="" id="{71F2038E-D777-4B76-81DD-DD13EE91B9D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xmlns="" id="{3F34FBEE-33C9-942D-3952-AA25C7039436}"/>
              </a:ext>
            </a:extLst>
          </p:cNvPr>
          <p:cNvSpPr txBox="1"/>
          <p:nvPr/>
        </p:nvSpPr>
        <p:spPr>
          <a:xfrm>
            <a:off x="804672" y="802955"/>
            <a:ext cx="4766330" cy="1454051"/>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3600" kern="1200">
                <a:solidFill>
                  <a:schemeClr val="tx2"/>
                </a:solidFill>
                <a:latin typeface="+mj-lt"/>
                <a:ea typeface="+mj-ea"/>
                <a:cs typeface="+mj-cs"/>
              </a:rPr>
              <a:t>AI SQUAT TRAINER</a:t>
            </a:r>
          </a:p>
          <a:p>
            <a:pPr>
              <a:lnSpc>
                <a:spcPct val="90000"/>
              </a:lnSpc>
              <a:spcBef>
                <a:spcPct val="0"/>
              </a:spcBef>
              <a:spcAft>
                <a:spcPts val="600"/>
              </a:spcAft>
            </a:pPr>
            <a:endParaRPr lang="en-US" sz="3600" kern="1200">
              <a:solidFill>
                <a:schemeClr val="tx2"/>
              </a:solidFill>
              <a:latin typeface="+mj-lt"/>
              <a:ea typeface="+mj-ea"/>
              <a:cs typeface="+mj-cs"/>
            </a:endParaRPr>
          </a:p>
        </p:txBody>
      </p:sp>
      <p:sp>
        <p:nvSpPr>
          <p:cNvPr id="3" name="TextBox 2">
            <a:extLst>
              <a:ext uri="{FF2B5EF4-FFF2-40B4-BE49-F238E27FC236}">
                <a16:creationId xmlns:a16="http://schemas.microsoft.com/office/drawing/2014/main" xmlns="" id="{4B4D8984-C5B2-B030-C34F-6E569A1255EF}"/>
              </a:ext>
            </a:extLst>
          </p:cNvPr>
          <p:cNvSpPr txBox="1"/>
          <p:nvPr/>
        </p:nvSpPr>
        <p:spPr>
          <a:xfrm>
            <a:off x="804672" y="2421683"/>
            <a:ext cx="4765949" cy="3353476"/>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fontScale="85000" lnSpcReduction="20000"/>
          </a:bodyPr>
          <a:lstStyle/>
          <a:p>
            <a:pPr indent="-228600" algn="just">
              <a:lnSpc>
                <a:spcPct val="90000"/>
              </a:lnSpc>
              <a:spcAft>
                <a:spcPts val="600"/>
              </a:spcAft>
              <a:buFont typeface="Arial" panose="020B0604020202020204" pitchFamily="34" charset="0"/>
              <a:buChar char="•"/>
            </a:pPr>
            <a:r>
              <a:rPr lang="en-US" sz="1700">
                <a:solidFill>
                  <a:schemeClr val="tx2"/>
                </a:solidFill>
              </a:rPr>
              <a:t>AI Squat Trainer is an intelligent fitness assistant that helps users improve their squat form using computer vision.</a:t>
            </a:r>
            <a:endParaRPr lang="en-US"/>
          </a:p>
          <a:p>
            <a:pPr indent="-228600" algn="just">
              <a:lnSpc>
                <a:spcPct val="90000"/>
              </a:lnSpc>
              <a:spcAft>
                <a:spcPts val="600"/>
              </a:spcAft>
              <a:buFont typeface="Arial" panose="020B0604020202020204" pitchFamily="34" charset="0"/>
              <a:buChar char="•"/>
            </a:pPr>
            <a:endParaRPr lang="en-US" sz="1700">
              <a:solidFill>
                <a:schemeClr val="tx2"/>
              </a:solidFill>
            </a:endParaRPr>
          </a:p>
          <a:p>
            <a:pPr indent="-228600" algn="just">
              <a:lnSpc>
                <a:spcPct val="90000"/>
              </a:lnSpc>
              <a:spcAft>
                <a:spcPts val="600"/>
              </a:spcAft>
              <a:buFont typeface="Arial" panose="020B0604020202020204" pitchFamily="34" charset="0"/>
              <a:buChar char="•"/>
            </a:pPr>
            <a:r>
              <a:rPr lang="en-US" sz="1700">
                <a:solidFill>
                  <a:schemeClr val="tx2"/>
                </a:solidFill>
              </a:rPr>
              <a:t>Real-time Posture Analysis – Tracks body key points to analyze squat movement</a:t>
            </a:r>
          </a:p>
          <a:p>
            <a:pPr indent="-228600" algn="just">
              <a:lnSpc>
                <a:spcPct val="90000"/>
              </a:lnSpc>
              <a:spcAft>
                <a:spcPts val="600"/>
              </a:spcAft>
              <a:buFont typeface="Arial" panose="020B0604020202020204" pitchFamily="34" charset="0"/>
              <a:buChar char="•"/>
            </a:pPr>
            <a:endParaRPr lang="en-US" sz="1700" dirty="0">
              <a:solidFill>
                <a:schemeClr val="tx2"/>
              </a:solidFill>
            </a:endParaRPr>
          </a:p>
          <a:p>
            <a:pPr indent="-228600" algn="just">
              <a:lnSpc>
                <a:spcPct val="90000"/>
              </a:lnSpc>
              <a:spcAft>
                <a:spcPts val="600"/>
              </a:spcAft>
              <a:buFont typeface="Arial" panose="020B0604020202020204" pitchFamily="34" charset="0"/>
              <a:buChar char="•"/>
            </a:pPr>
            <a:r>
              <a:rPr lang="en-US" sz="1700">
                <a:solidFill>
                  <a:schemeClr val="tx2"/>
                </a:solidFill>
              </a:rPr>
              <a:t>Repetition Counter – Automatically counts the number of squats performed.</a:t>
            </a:r>
          </a:p>
          <a:p>
            <a:pPr indent="-228600" algn="just">
              <a:lnSpc>
                <a:spcPct val="90000"/>
              </a:lnSpc>
              <a:spcAft>
                <a:spcPts val="600"/>
              </a:spcAft>
              <a:buFont typeface="Arial" panose="020B0604020202020204" pitchFamily="34" charset="0"/>
              <a:buChar char="•"/>
            </a:pPr>
            <a:endParaRPr lang="en-US" sz="1700">
              <a:solidFill>
                <a:schemeClr val="tx2"/>
              </a:solidFill>
            </a:endParaRPr>
          </a:p>
          <a:p>
            <a:pPr indent="-228600" algn="just">
              <a:lnSpc>
                <a:spcPct val="90000"/>
              </a:lnSpc>
              <a:spcAft>
                <a:spcPts val="600"/>
              </a:spcAft>
              <a:buFont typeface="Arial" panose="020B0604020202020204" pitchFamily="34" charset="0"/>
              <a:buChar char="•"/>
            </a:pPr>
            <a:r>
              <a:rPr lang="en-US" sz="1700">
                <a:solidFill>
                  <a:schemeClr val="tx2"/>
                </a:solidFill>
              </a:rPr>
              <a:t>User-Friendly UI – Interactive frontend using HTML, CSS, JavaScript for seamless experience</a:t>
            </a:r>
          </a:p>
          <a:p>
            <a:pPr indent="-228600" algn="just">
              <a:lnSpc>
                <a:spcPct val="90000"/>
              </a:lnSpc>
              <a:spcAft>
                <a:spcPts val="600"/>
              </a:spcAft>
              <a:buFont typeface="Arial" panose="020B0604020202020204" pitchFamily="34" charset="0"/>
              <a:buChar char="•"/>
            </a:pPr>
            <a:endParaRPr lang="en-US" sz="1700" dirty="0">
              <a:solidFill>
                <a:schemeClr val="tx2"/>
              </a:solidFill>
            </a:endParaRPr>
          </a:p>
          <a:p>
            <a:pPr algn="just">
              <a:buFont typeface="Arial" panose="020B0604020202020204" pitchFamily="34" charset="0"/>
              <a:buChar char="•"/>
            </a:pPr>
            <a:r>
              <a:rPr lang="en-US" sz="1700">
                <a:solidFill>
                  <a:schemeClr val="tx2"/>
                </a:solidFill>
                <a:ea typeface="+mn-lt"/>
                <a:cs typeface="+mn-lt"/>
              </a:rPr>
              <a:t>Reduces injury risk by ensuring proper squat technique.</a:t>
            </a:r>
            <a:endParaRPr lang="en-US">
              <a:solidFill>
                <a:schemeClr val="tx2"/>
              </a:solidFill>
            </a:endParaRPr>
          </a:p>
          <a:p>
            <a:pPr algn="just"/>
            <a:endParaRPr lang="en-US" sz="1700" dirty="0">
              <a:solidFill>
                <a:schemeClr val="tx2"/>
              </a:solidFill>
              <a:ea typeface="+mn-lt"/>
              <a:cs typeface="+mn-lt"/>
            </a:endParaRPr>
          </a:p>
          <a:p>
            <a:pPr algn="just">
              <a:buFont typeface="Arial" panose="020B0604020202020204" pitchFamily="34" charset="0"/>
            </a:pPr>
            <a:endParaRPr lang="en-US" sz="1700" dirty="0">
              <a:solidFill>
                <a:schemeClr val="tx2"/>
              </a:solidFill>
              <a:ea typeface="+mn-lt"/>
              <a:cs typeface="+mn-lt"/>
            </a:endParaRPr>
          </a:p>
          <a:p>
            <a:pPr algn="just">
              <a:buFont typeface="Arial" panose="020B0604020202020204" pitchFamily="34" charset="0"/>
              <a:buChar char="•"/>
            </a:pPr>
            <a:r>
              <a:rPr lang="en-US" sz="1700">
                <a:solidFill>
                  <a:schemeClr val="tx2"/>
                </a:solidFill>
                <a:ea typeface="+mn-lt"/>
                <a:cs typeface="+mn-lt"/>
              </a:rPr>
              <a:t>Provides a personal trainer-like experience at home.</a:t>
            </a:r>
            <a:endParaRPr lang="en-US">
              <a:solidFill>
                <a:schemeClr val="tx2"/>
              </a:solidFill>
            </a:endParaRPr>
          </a:p>
        </p:txBody>
      </p:sp>
      <p:grpSp>
        <p:nvGrpSpPr>
          <p:cNvPr id="21" name="Group 20">
            <a:extLst>
              <a:ext uri="{FF2B5EF4-FFF2-40B4-BE49-F238E27FC236}">
                <a16:creationId xmlns:a16="http://schemas.microsoft.com/office/drawing/2014/main" xmlns="" id="{DD354807-230F-4402-B1B9-F733A8F1F190}"/>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5818240" y="-16714"/>
            <a:ext cx="6373761" cy="6874714"/>
            <a:chOff x="5818240" y="-1"/>
            <a:chExt cx="6373761" cy="6874714"/>
          </a:xfrm>
        </p:grpSpPr>
        <p:sp>
          <p:nvSpPr>
            <p:cNvPr id="22" name="Freeform: Shape 21">
              <a:extLst>
                <a:ext uri="{FF2B5EF4-FFF2-40B4-BE49-F238E27FC236}">
                  <a16:creationId xmlns:a16="http://schemas.microsoft.com/office/drawing/2014/main" xmlns="" id="{BF5A6F4A-CE87-4D5C-9382-8167967CE81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xmlns="" id="{61023DD2-2E6F-4419-B404-80F08460BEA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xmlns="" id="{BC4A6C98-F96E-4587-B01F-A9B01BBFAD0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xmlns="" id="{A66409EC-9CC3-482A-A4A5-54ED092B3F2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Robot">
            <a:extLst>
              <a:ext uri="{FF2B5EF4-FFF2-40B4-BE49-F238E27FC236}">
                <a16:creationId xmlns:a16="http://schemas.microsoft.com/office/drawing/2014/main" xmlns="" id="{7295F7F3-C1B6-41DA-43BE-7BFC699E569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7708392" y="1819656"/>
            <a:ext cx="4142232" cy="4142232"/>
          </a:xfrm>
          <a:prstGeom prst="rect">
            <a:avLst/>
          </a:prstGeom>
        </p:spPr>
      </p:pic>
    </p:spTree>
    <p:extLst>
      <p:ext uri="{BB962C8B-B14F-4D97-AF65-F5344CB8AC3E}">
        <p14:creationId xmlns:p14="http://schemas.microsoft.com/office/powerpoint/2010/main" val="17689364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EDDBB197-D710-4A4F-A9CA-FD2177498BE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975D1CFA-2CDB-4B64-BD9F-85744E8DA12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xmlns="" id="{8FC2B111-E4C2-F4FE-0BC7-CB4B6486E442}"/>
              </a:ext>
            </a:extLst>
          </p:cNvPr>
          <p:cNvSpPr txBox="1"/>
          <p:nvPr/>
        </p:nvSpPr>
        <p:spPr>
          <a:xfrm>
            <a:off x="804672" y="802955"/>
            <a:ext cx="4977976" cy="1454051"/>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3600" kern="1200">
                <a:solidFill>
                  <a:schemeClr val="tx2"/>
                </a:solidFill>
                <a:latin typeface="+mj-lt"/>
                <a:ea typeface="+mj-ea"/>
                <a:cs typeface="+mj-cs"/>
              </a:rPr>
              <a:t>TECHNOLOGY USED FOR AI TRAINER</a:t>
            </a:r>
          </a:p>
        </p:txBody>
      </p:sp>
      <p:sp>
        <p:nvSpPr>
          <p:cNvPr id="3" name="TextBox 2">
            <a:extLst>
              <a:ext uri="{FF2B5EF4-FFF2-40B4-BE49-F238E27FC236}">
                <a16:creationId xmlns:a16="http://schemas.microsoft.com/office/drawing/2014/main" xmlns="" id="{71BFC922-CE80-5D6C-194C-0D630D03B209}"/>
              </a:ext>
            </a:extLst>
          </p:cNvPr>
          <p:cNvSpPr txBox="1"/>
          <p:nvPr/>
        </p:nvSpPr>
        <p:spPr>
          <a:xfrm>
            <a:off x="804672" y="2421682"/>
            <a:ext cx="4977578" cy="3639289"/>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1100">
                <a:solidFill>
                  <a:schemeClr val="tx2"/>
                </a:solidFill>
              </a:rPr>
              <a:t>Frontend (User Interface)</a:t>
            </a:r>
          </a:p>
          <a:p>
            <a:pPr marL="285750" indent="-228600">
              <a:lnSpc>
                <a:spcPct val="90000"/>
              </a:lnSpc>
              <a:spcAft>
                <a:spcPts val="600"/>
              </a:spcAft>
              <a:buFont typeface="Arial" panose="020B0604020202020204" pitchFamily="34" charset="0"/>
              <a:buChar char="•"/>
            </a:pPr>
            <a:r>
              <a:rPr lang="en-US" sz="1100">
                <a:solidFill>
                  <a:schemeClr val="tx2"/>
                </a:solidFill>
              </a:rPr>
              <a:t>HTML, CSS, JavaScript – For designing an interactive and responsive UI.</a:t>
            </a:r>
          </a:p>
          <a:p>
            <a:pPr marL="285750" indent="-228600">
              <a:lnSpc>
                <a:spcPct val="90000"/>
              </a:lnSpc>
              <a:spcAft>
                <a:spcPts val="600"/>
              </a:spcAft>
              <a:buFont typeface="Arial" panose="020B0604020202020204" pitchFamily="34" charset="0"/>
              <a:buChar char="•"/>
            </a:pPr>
            <a:endParaRPr lang="en-US" sz="1100">
              <a:solidFill>
                <a:schemeClr val="tx2"/>
              </a:solidFill>
            </a:endParaRPr>
          </a:p>
          <a:p>
            <a:pPr indent="-228600">
              <a:lnSpc>
                <a:spcPct val="90000"/>
              </a:lnSpc>
              <a:spcAft>
                <a:spcPts val="600"/>
              </a:spcAft>
              <a:buFont typeface="Arial" panose="020B0604020202020204" pitchFamily="34" charset="0"/>
              <a:buChar char="•"/>
            </a:pPr>
            <a:r>
              <a:rPr lang="en-US" sz="1100">
                <a:solidFill>
                  <a:schemeClr val="tx2"/>
                </a:solidFill>
              </a:rPr>
              <a:t>Backend (Server &amp; API)</a:t>
            </a:r>
          </a:p>
          <a:p>
            <a:pPr marL="285750" indent="-228600">
              <a:lnSpc>
                <a:spcPct val="90000"/>
              </a:lnSpc>
              <a:spcAft>
                <a:spcPts val="600"/>
              </a:spcAft>
              <a:buFont typeface="Arial" panose="020B0604020202020204" pitchFamily="34" charset="0"/>
              <a:buChar char="•"/>
            </a:pPr>
            <a:r>
              <a:rPr lang="en-US" sz="1100">
                <a:solidFill>
                  <a:schemeClr val="tx2"/>
                </a:solidFill>
              </a:rPr>
              <a:t>Python (Flask) – For handling requests and integrating AI models.</a:t>
            </a:r>
          </a:p>
          <a:p>
            <a:pPr indent="-228600">
              <a:lnSpc>
                <a:spcPct val="90000"/>
              </a:lnSpc>
              <a:spcAft>
                <a:spcPts val="600"/>
              </a:spcAft>
              <a:buFont typeface="Arial" panose="020B0604020202020204" pitchFamily="34" charset="0"/>
              <a:buChar char="•"/>
            </a:pPr>
            <a:endParaRPr lang="en-US" sz="1100">
              <a:solidFill>
                <a:schemeClr val="tx2"/>
              </a:solidFill>
            </a:endParaRPr>
          </a:p>
          <a:p>
            <a:pPr indent="-228600">
              <a:lnSpc>
                <a:spcPct val="90000"/>
              </a:lnSpc>
              <a:spcAft>
                <a:spcPts val="600"/>
              </a:spcAft>
              <a:buFont typeface="Arial" panose="020B0604020202020204" pitchFamily="34" charset="0"/>
              <a:buChar char="•"/>
            </a:pPr>
            <a:r>
              <a:rPr lang="en-US" sz="1100" b="1">
                <a:solidFill>
                  <a:schemeClr val="tx2"/>
                </a:solidFill>
              </a:rPr>
              <a:t>. </a:t>
            </a:r>
            <a:r>
              <a:rPr lang="en-US" sz="1100">
                <a:solidFill>
                  <a:schemeClr val="tx2"/>
                </a:solidFill>
              </a:rPr>
              <a:t>AI &amp; Computer Vision</a:t>
            </a:r>
          </a:p>
          <a:p>
            <a:pPr marL="285750" indent="-228600">
              <a:lnSpc>
                <a:spcPct val="90000"/>
              </a:lnSpc>
              <a:spcAft>
                <a:spcPts val="600"/>
              </a:spcAft>
              <a:buFont typeface="Arial" panose="020B0604020202020204" pitchFamily="34" charset="0"/>
              <a:buChar char="•"/>
            </a:pPr>
            <a:r>
              <a:rPr lang="en-US" sz="1100">
                <a:solidFill>
                  <a:schemeClr val="tx2"/>
                </a:solidFill>
              </a:rPr>
              <a:t>OpenCV – For real-time video processing and image analysis.</a:t>
            </a:r>
          </a:p>
          <a:p>
            <a:pPr marL="285750" indent="-228600">
              <a:lnSpc>
                <a:spcPct val="90000"/>
              </a:lnSpc>
              <a:spcAft>
                <a:spcPts val="600"/>
              </a:spcAft>
              <a:buFont typeface="Arial" panose="020B0604020202020204" pitchFamily="34" charset="0"/>
              <a:buChar char="•"/>
            </a:pPr>
            <a:r>
              <a:rPr lang="en-US" sz="1100">
                <a:solidFill>
                  <a:schemeClr val="tx2"/>
                </a:solidFill>
              </a:rPr>
              <a:t>MediaPipe – For pose estimation and tracking body key points.</a:t>
            </a:r>
          </a:p>
          <a:p>
            <a:pPr marL="285750" indent="-228600">
              <a:lnSpc>
                <a:spcPct val="90000"/>
              </a:lnSpc>
              <a:spcAft>
                <a:spcPts val="600"/>
              </a:spcAft>
              <a:buFont typeface="Arial" panose="020B0604020202020204" pitchFamily="34" charset="0"/>
              <a:buChar char="•"/>
            </a:pPr>
            <a:r>
              <a:rPr lang="en-US" sz="1100">
                <a:solidFill>
                  <a:schemeClr val="tx2"/>
                </a:solidFill>
              </a:rPr>
              <a:t>NumPy  – For calculating angles.</a:t>
            </a:r>
          </a:p>
          <a:p>
            <a:pPr marL="285750" indent="-228600">
              <a:lnSpc>
                <a:spcPct val="90000"/>
              </a:lnSpc>
              <a:spcAft>
                <a:spcPts val="600"/>
              </a:spcAft>
              <a:buFont typeface="Arial" panose="020B0604020202020204" pitchFamily="34" charset="0"/>
              <a:buChar char="•"/>
            </a:pPr>
            <a:endParaRPr lang="en-US" sz="1100">
              <a:solidFill>
                <a:schemeClr val="tx2"/>
              </a:solidFill>
            </a:endParaRPr>
          </a:p>
          <a:p>
            <a:pPr indent="-228600">
              <a:lnSpc>
                <a:spcPct val="90000"/>
              </a:lnSpc>
              <a:spcAft>
                <a:spcPts val="600"/>
              </a:spcAft>
              <a:buFont typeface="Arial" panose="020B0604020202020204" pitchFamily="34" charset="0"/>
              <a:buChar char="•"/>
            </a:pPr>
            <a:r>
              <a:rPr lang="en-US" sz="1100">
                <a:solidFill>
                  <a:schemeClr val="tx2"/>
                </a:solidFill>
              </a:rPr>
              <a:t>Machine Learning &amp; AI</a:t>
            </a:r>
          </a:p>
          <a:p>
            <a:pPr marL="285750" indent="-228600">
              <a:lnSpc>
                <a:spcPct val="90000"/>
              </a:lnSpc>
              <a:spcAft>
                <a:spcPts val="600"/>
              </a:spcAft>
              <a:buFont typeface="Arial" panose="020B0604020202020204" pitchFamily="34" charset="0"/>
              <a:buChar char="•"/>
            </a:pPr>
            <a:r>
              <a:rPr lang="en-US" sz="1100">
                <a:solidFill>
                  <a:schemeClr val="tx2"/>
                </a:solidFill>
              </a:rPr>
              <a:t>Pre-trained Pose Estimation Models – Used Mediapipe for pose detection and landmarks.</a:t>
            </a:r>
          </a:p>
          <a:p>
            <a:pPr marL="285750" indent="-228600">
              <a:lnSpc>
                <a:spcPct val="90000"/>
              </a:lnSpc>
              <a:spcAft>
                <a:spcPts val="600"/>
              </a:spcAft>
              <a:buFont typeface="Arial" panose="020B0604020202020204" pitchFamily="34" charset="0"/>
              <a:buChar char="•"/>
            </a:pPr>
            <a:r>
              <a:rPr lang="en-US" sz="1100">
                <a:solidFill>
                  <a:schemeClr val="tx2"/>
                </a:solidFill>
              </a:rPr>
              <a:t>Custom AI Models</a:t>
            </a:r>
            <a:r>
              <a:rPr lang="en-US" sz="1100" b="1">
                <a:solidFill>
                  <a:schemeClr val="tx2"/>
                </a:solidFill>
              </a:rPr>
              <a:t> </a:t>
            </a:r>
            <a:r>
              <a:rPr lang="en-US" sz="1100">
                <a:solidFill>
                  <a:schemeClr val="tx2"/>
                </a:solidFill>
              </a:rPr>
              <a:t>– Trained for motion analysis and form correction</a:t>
            </a:r>
          </a:p>
          <a:p>
            <a:pPr indent="-228600">
              <a:lnSpc>
                <a:spcPct val="90000"/>
              </a:lnSpc>
              <a:spcAft>
                <a:spcPts val="600"/>
              </a:spcAft>
              <a:buFont typeface="Arial" panose="020B0604020202020204" pitchFamily="34" charset="0"/>
              <a:buChar char="•"/>
            </a:pPr>
            <a:endParaRPr lang="en-US" sz="1100">
              <a:solidFill>
                <a:schemeClr val="tx2"/>
              </a:solidFill>
            </a:endParaRPr>
          </a:p>
          <a:p>
            <a:pPr indent="-228600">
              <a:lnSpc>
                <a:spcPct val="90000"/>
              </a:lnSpc>
              <a:spcAft>
                <a:spcPts val="600"/>
              </a:spcAft>
              <a:buFont typeface="Arial" panose="020B0604020202020204" pitchFamily="34" charset="0"/>
              <a:buChar char="•"/>
            </a:pPr>
            <a:endParaRPr lang="en-US" sz="1100">
              <a:solidFill>
                <a:schemeClr val="tx2"/>
              </a:solidFill>
            </a:endParaRPr>
          </a:p>
          <a:p>
            <a:pPr indent="-228600">
              <a:lnSpc>
                <a:spcPct val="90000"/>
              </a:lnSpc>
              <a:spcAft>
                <a:spcPts val="600"/>
              </a:spcAft>
              <a:buFont typeface="Arial" panose="020B0604020202020204" pitchFamily="34" charset="0"/>
              <a:buChar char="•"/>
            </a:pPr>
            <a:endParaRPr lang="en-US" sz="1100">
              <a:solidFill>
                <a:schemeClr val="tx2"/>
              </a:solidFill>
            </a:endParaRPr>
          </a:p>
        </p:txBody>
      </p:sp>
      <p:grpSp>
        <p:nvGrpSpPr>
          <p:cNvPr id="14" name="Group 13">
            <a:extLst>
              <a:ext uri="{FF2B5EF4-FFF2-40B4-BE49-F238E27FC236}">
                <a16:creationId xmlns:a16="http://schemas.microsoft.com/office/drawing/2014/main" xmlns="" id="{25EE5136-01F1-466C-962D-BA9B4C6757AA}"/>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xmlns="" id="{E11D3AD4-AF9B-4EB5-8C7B-C45D173B4B5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xmlns="" id="{15102EBE-A80F-4CFF-B1DD-941EF9728B5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xmlns="" id="{EC18CE1F-9DF1-47AF-9E66-6CE348AC233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xmlns="" id="{5BD26A8C-8D1D-41E6-A71E-FE9AC75F3F8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Virtual RealityHeadset">
            <a:extLst>
              <a:ext uri="{FF2B5EF4-FFF2-40B4-BE49-F238E27FC236}">
                <a16:creationId xmlns:a16="http://schemas.microsoft.com/office/drawing/2014/main" xmlns="" id="{B79CD8FC-1F37-5DE3-6158-E1420A6C863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31367163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xmlns="" id="{EDDBB197-D710-4A4F-A9CA-FD2177498BE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xmlns="" id="{975D1CFA-2CDB-4B64-BD9F-85744E8DA12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xmlns="" id="{C15228D1-09D4-FA6C-B450-36BD2B428278}"/>
              </a:ext>
            </a:extLst>
          </p:cNvPr>
          <p:cNvSpPr txBox="1"/>
          <p:nvPr/>
        </p:nvSpPr>
        <p:spPr>
          <a:xfrm>
            <a:off x="804672" y="802955"/>
            <a:ext cx="4977976" cy="1454051"/>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3600" kern="1200">
                <a:solidFill>
                  <a:schemeClr val="tx2"/>
                </a:solidFill>
                <a:latin typeface="+mj-lt"/>
                <a:ea typeface="+mj-ea"/>
                <a:cs typeface="+mj-cs"/>
              </a:rPr>
              <a:t>FUTURE ENHANCEMENTS</a:t>
            </a:r>
          </a:p>
        </p:txBody>
      </p:sp>
      <p:sp>
        <p:nvSpPr>
          <p:cNvPr id="3" name="TextBox 2">
            <a:extLst>
              <a:ext uri="{FF2B5EF4-FFF2-40B4-BE49-F238E27FC236}">
                <a16:creationId xmlns:a16="http://schemas.microsoft.com/office/drawing/2014/main" xmlns="" id="{1EA1DAA6-E8A4-C60F-F40C-E446F5656CC1}"/>
              </a:ext>
            </a:extLst>
          </p:cNvPr>
          <p:cNvSpPr txBox="1"/>
          <p:nvPr/>
        </p:nvSpPr>
        <p:spPr>
          <a:xfrm>
            <a:off x="804672" y="2421682"/>
            <a:ext cx="4977578" cy="3639289"/>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1700">
                <a:solidFill>
                  <a:schemeClr val="tx2"/>
                </a:solidFill>
              </a:rPr>
              <a:t>Adding more workout in our AI Trainer service</a:t>
            </a:r>
          </a:p>
          <a:p>
            <a:pPr indent="-228600">
              <a:lnSpc>
                <a:spcPct val="90000"/>
              </a:lnSpc>
              <a:spcAft>
                <a:spcPts val="600"/>
              </a:spcAft>
              <a:buFont typeface="Arial" panose="020B0604020202020204" pitchFamily="34" charset="0"/>
              <a:buChar char="•"/>
            </a:pPr>
            <a:endParaRPr lang="en-US" sz="1700">
              <a:solidFill>
                <a:schemeClr val="tx2"/>
              </a:solidFill>
            </a:endParaRPr>
          </a:p>
          <a:p>
            <a:pPr indent="-228600">
              <a:lnSpc>
                <a:spcPct val="90000"/>
              </a:lnSpc>
              <a:spcAft>
                <a:spcPts val="600"/>
              </a:spcAft>
              <a:buFont typeface="Arial" panose="020B0604020202020204" pitchFamily="34" charset="0"/>
              <a:buChar char="•"/>
            </a:pPr>
            <a:r>
              <a:rPr lang="en-US" sz="1700">
                <a:solidFill>
                  <a:schemeClr val="tx2"/>
                </a:solidFill>
              </a:rPr>
              <a:t>Developing a job portal for Gym Trainers and martial art trainers</a:t>
            </a:r>
          </a:p>
          <a:p>
            <a:pPr indent="-228600">
              <a:lnSpc>
                <a:spcPct val="90000"/>
              </a:lnSpc>
              <a:spcAft>
                <a:spcPts val="600"/>
              </a:spcAft>
              <a:buFont typeface="Arial" panose="020B0604020202020204" pitchFamily="34" charset="0"/>
              <a:buChar char="•"/>
            </a:pPr>
            <a:endParaRPr lang="en-US" sz="1700">
              <a:solidFill>
                <a:schemeClr val="tx2"/>
              </a:solidFill>
            </a:endParaRPr>
          </a:p>
          <a:p>
            <a:pPr indent="-228600">
              <a:lnSpc>
                <a:spcPct val="90000"/>
              </a:lnSpc>
              <a:spcAft>
                <a:spcPts val="600"/>
              </a:spcAft>
              <a:buFont typeface="Arial" panose="020B0604020202020204" pitchFamily="34" charset="0"/>
              <a:buChar char="•"/>
            </a:pPr>
            <a:r>
              <a:rPr lang="en-US" sz="1700">
                <a:solidFill>
                  <a:schemeClr val="tx2"/>
                </a:solidFill>
              </a:rPr>
              <a:t>Developing a Diet planner according to BMI using ML</a:t>
            </a:r>
          </a:p>
          <a:p>
            <a:pPr indent="-228600">
              <a:lnSpc>
                <a:spcPct val="90000"/>
              </a:lnSpc>
              <a:spcAft>
                <a:spcPts val="600"/>
              </a:spcAft>
              <a:buFont typeface="Arial" panose="020B0604020202020204" pitchFamily="34" charset="0"/>
              <a:buChar char="•"/>
            </a:pPr>
            <a:endParaRPr lang="en-US" sz="1700">
              <a:solidFill>
                <a:schemeClr val="tx2"/>
              </a:solidFill>
            </a:endParaRPr>
          </a:p>
          <a:p>
            <a:pPr indent="-228600">
              <a:lnSpc>
                <a:spcPct val="90000"/>
              </a:lnSpc>
              <a:spcAft>
                <a:spcPts val="600"/>
              </a:spcAft>
              <a:buFont typeface="Arial" panose="020B0604020202020204" pitchFamily="34" charset="0"/>
              <a:buChar char="•"/>
            </a:pPr>
            <a:r>
              <a:rPr lang="en-US" sz="1700">
                <a:solidFill>
                  <a:schemeClr val="tx2"/>
                </a:solidFill>
              </a:rPr>
              <a:t>Develop a equipment rental system</a:t>
            </a:r>
          </a:p>
          <a:p>
            <a:pPr indent="-228600">
              <a:lnSpc>
                <a:spcPct val="90000"/>
              </a:lnSpc>
              <a:spcAft>
                <a:spcPts val="600"/>
              </a:spcAft>
              <a:buFont typeface="Arial" panose="020B0604020202020204" pitchFamily="34" charset="0"/>
              <a:buChar char="•"/>
            </a:pPr>
            <a:endParaRPr lang="en-US" sz="1700">
              <a:solidFill>
                <a:schemeClr val="tx2"/>
              </a:solidFill>
            </a:endParaRPr>
          </a:p>
          <a:p>
            <a:pPr indent="-228600">
              <a:lnSpc>
                <a:spcPct val="90000"/>
              </a:lnSpc>
              <a:spcAft>
                <a:spcPts val="600"/>
              </a:spcAft>
              <a:buFont typeface="Arial" panose="020B0604020202020204" pitchFamily="34" charset="0"/>
              <a:buChar char="•"/>
            </a:pPr>
            <a:r>
              <a:rPr lang="en-US" sz="1700">
                <a:solidFill>
                  <a:schemeClr val="tx2"/>
                </a:solidFill>
              </a:rPr>
              <a:t>Adding interuption for wrong posture in AI Trainer Services</a:t>
            </a:r>
          </a:p>
          <a:p>
            <a:pPr indent="-228600">
              <a:lnSpc>
                <a:spcPct val="90000"/>
              </a:lnSpc>
              <a:spcAft>
                <a:spcPts val="600"/>
              </a:spcAft>
              <a:buFont typeface="Arial" panose="020B0604020202020204" pitchFamily="34" charset="0"/>
              <a:buChar char="•"/>
            </a:pPr>
            <a:endParaRPr lang="en-US" sz="1700">
              <a:solidFill>
                <a:schemeClr val="tx2"/>
              </a:solidFill>
            </a:endParaRPr>
          </a:p>
        </p:txBody>
      </p:sp>
      <p:grpSp>
        <p:nvGrpSpPr>
          <p:cNvPr id="14" name="Group 13">
            <a:extLst>
              <a:ext uri="{FF2B5EF4-FFF2-40B4-BE49-F238E27FC236}">
                <a16:creationId xmlns:a16="http://schemas.microsoft.com/office/drawing/2014/main" xmlns="" id="{25EE5136-01F1-466C-962D-BA9B4C6757AA}"/>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xmlns="" id="{E11D3AD4-AF9B-4EB5-8C7B-C45D173B4B5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xmlns="" id="{15102EBE-A80F-4CFF-B1DD-941EF9728B5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xmlns="" id="{EC18CE1F-9DF1-47AF-9E66-6CE348AC233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xmlns="" id="{5BD26A8C-8D1D-41E6-A71E-FE9AC75F3F8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Robot">
            <a:extLst>
              <a:ext uri="{FF2B5EF4-FFF2-40B4-BE49-F238E27FC236}">
                <a16:creationId xmlns:a16="http://schemas.microsoft.com/office/drawing/2014/main" xmlns="" id="{65464A10-FB21-A7D8-07DA-36F8634711A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1770783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xmlns="" id="{54A6836E-C603-43CB-9DA7-89D8E3FA383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xmlns="" id="{296007DD-F9BF-4F0F-B8C6-C514B284197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extBox 1">
            <a:extLst>
              <a:ext uri="{FF2B5EF4-FFF2-40B4-BE49-F238E27FC236}">
                <a16:creationId xmlns:a16="http://schemas.microsoft.com/office/drawing/2014/main" xmlns="" id="{660A906B-6459-908F-B569-0F5118220224}"/>
              </a:ext>
            </a:extLst>
          </p:cNvPr>
          <p:cNvSpPr txBox="1"/>
          <p:nvPr/>
        </p:nvSpPr>
        <p:spPr>
          <a:xfrm>
            <a:off x="753925" y="1321056"/>
            <a:ext cx="10684151" cy="1991979"/>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gn="ctr">
              <a:lnSpc>
                <a:spcPct val="90000"/>
              </a:lnSpc>
              <a:spcBef>
                <a:spcPct val="0"/>
              </a:spcBef>
              <a:spcAft>
                <a:spcPts val="600"/>
              </a:spcAft>
            </a:pPr>
            <a:r>
              <a:rPr lang="en-US" sz="5200" kern="1200">
                <a:solidFill>
                  <a:schemeClr val="tx2"/>
                </a:solidFill>
                <a:latin typeface="+mj-lt"/>
                <a:ea typeface="+mj-ea"/>
                <a:cs typeface="+mj-cs"/>
              </a:rPr>
              <a:t>THANKYOU</a:t>
            </a:r>
          </a:p>
        </p:txBody>
      </p:sp>
      <p:grpSp>
        <p:nvGrpSpPr>
          <p:cNvPr id="11" name="Group 10">
            <a:extLst>
              <a:ext uri="{FF2B5EF4-FFF2-40B4-BE49-F238E27FC236}">
                <a16:creationId xmlns:a16="http://schemas.microsoft.com/office/drawing/2014/main" xmlns="" id="{8A0FAFCA-5C96-453B-83B7-A9AEF7F18960}"/>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7867135" y="0"/>
            <a:ext cx="4324865" cy="2641149"/>
            <a:chOff x="6867015" y="-1"/>
            <a:chExt cx="5324985" cy="3251912"/>
          </a:xfrm>
          <a:solidFill>
            <a:schemeClr val="accent5">
              <a:alpha val="10000"/>
            </a:schemeClr>
          </a:solidFill>
        </p:grpSpPr>
        <p:sp>
          <p:nvSpPr>
            <p:cNvPr id="12" name="Freeform: Shape 11">
              <a:extLst>
                <a:ext uri="{FF2B5EF4-FFF2-40B4-BE49-F238E27FC236}">
                  <a16:creationId xmlns:a16="http://schemas.microsoft.com/office/drawing/2014/main" xmlns="" id="{4A0F84AE-A24D-4353-B1BA-BD80DAA385F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xmlns="" id="{AF093259-3E74-43A1-944B-B106C8105E9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xmlns="" id="{AAA28A35-1E54-4054-BB95-42FAFA13A94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xmlns="" id="{FBA3A17F-F3BD-4B94-9CC8-006700210FA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xmlns="" id="{CD0398DD-AD75-4E2B-A3C6-35073082A8B4}"/>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rot="16200000">
            <a:off x="-456265" y="3658536"/>
            <a:ext cx="3655725" cy="2743201"/>
            <a:chOff x="-305" y="-1"/>
            <a:chExt cx="3832880" cy="2876136"/>
          </a:xfrm>
        </p:grpSpPr>
        <p:sp>
          <p:nvSpPr>
            <p:cNvPr id="18" name="Freeform: Shape 17">
              <a:extLst>
                <a:ext uri="{FF2B5EF4-FFF2-40B4-BE49-F238E27FC236}">
                  <a16:creationId xmlns:a16="http://schemas.microsoft.com/office/drawing/2014/main" xmlns="" id="{03E4F247-A844-4CD1-A37E-B7EA0DA2DBC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xmlns="" id="{E2387B1B-D4D3-493F-8D7A-C7A89DBD4AB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xmlns="" id="{C3404477-1F13-4859-84DA-12A303ACAD0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xmlns="" id="{1B8C62FD-B708-4F00-80BB-1250C60119E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1427334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63</TotalTime>
  <Words>796</Words>
  <Application>Microsoft Office PowerPoint</Application>
  <PresentationFormat>Custom</PresentationFormat>
  <Paragraphs>105</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GAJENDRA DEWANGAN</cp:lastModifiedBy>
  <cp:revision>296</cp:revision>
  <dcterms:created xsi:type="dcterms:W3CDTF">2025-03-10T18:44:55Z</dcterms:created>
  <dcterms:modified xsi:type="dcterms:W3CDTF">2025-03-11T06:33:11Z</dcterms:modified>
</cp:coreProperties>
</file>